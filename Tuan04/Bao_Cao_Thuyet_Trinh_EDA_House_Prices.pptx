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5" r:id="rId13"/>
    <p:sldId id="276" r:id="rId14"/>
    <p:sldId id="277" r:id="rId15"/>
    <p:sldId id="267" r:id="rId16"/>
    <p:sldId id="268" r:id="rId17"/>
    <p:sldId id="269" r:id="rId18"/>
    <p:sldId id="270" r:id="rId19"/>
    <p:sldId id="271" r:id="rId20"/>
    <p:sldId id="272" r:id="rId21"/>
    <p:sldId id="273" r:id="rId22"/>
    <p:sldId id="274"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snapToObjects="1">
      <p:cViewPr varScale="1">
        <p:scale>
          <a:sx n="77" d="100"/>
          <a:sy n="77" d="100"/>
        </p:scale>
        <p:origin x="902"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09728" cy="4663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188720"/>
            <a:ext cx="10058400" cy="1287532"/>
          </a:xfrm>
          <a:prstGeom prst="rect">
            <a:avLst/>
          </a:prstGeom>
          <a:noFill/>
        </p:spPr>
        <p:txBody>
          <a:bodyPr wrap="square">
            <a:spAutoFit/>
          </a:bodyPr>
          <a:lstStyle/>
          <a:p>
            <a:pPr>
              <a:spcAft>
                <a:spcPts val="1400"/>
              </a:spcAft>
              <a:defRPr sz="1200" b="1">
                <a:solidFill>
                  <a:srgbClr val="1E3A8A"/>
                </a:solidFill>
                <a:latin typeface="Arial"/>
              </a:defRPr>
            </a:pPr>
            <a:r>
              <a:rPr dirty="0"/>
              <a:t>BÁO CÁO NGHIÊN CỨU &amp; THỰC HÀNH</a:t>
            </a:r>
          </a:p>
          <a:p>
            <a:pPr>
              <a:spcAft>
                <a:spcPts val="1200"/>
              </a:spcAft>
              <a:defRPr sz="2800" b="1">
                <a:solidFill>
                  <a:srgbClr val="0F172A"/>
                </a:solidFill>
                <a:latin typeface="Arial"/>
              </a:defRPr>
            </a:pPr>
            <a:r>
              <a:rPr dirty="0"/>
              <a:t>BÁO CÁO PHÂN TÍCH KHÁM PHÁ DỮ LIỆU</a:t>
            </a:r>
          </a:p>
          <a:p>
            <a:pPr>
              <a:spcAft>
                <a:spcPts val="3600"/>
              </a:spcAft>
              <a:defRPr sz="1600" b="0">
                <a:solidFill>
                  <a:srgbClr val="64748B"/>
                </a:solidFill>
                <a:latin typeface="Arial"/>
              </a:defRPr>
            </a:pPr>
            <a:r>
              <a:rPr dirty="0"/>
              <a:t>BÀI TOÁN DỰ ĐOÁN GIÁ NHÀ AMES HOUSING (KAGGLE COMPETITION)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TỔ CHỨC NHÓM</a:t>
            </a:r>
          </a:p>
          <a:p>
            <a:pPr>
              <a:defRPr sz="2100" b="1">
                <a:solidFill>
                  <a:srgbClr val="0F172A"/>
                </a:solidFill>
                <a:latin typeface="Arial"/>
              </a:defRPr>
            </a:pPr>
            <a:r>
              <a:t>Phân công nhiệm vụ từng thành viên</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8690776" cy="3225435"/>
          </a:xfrm>
          <a:prstGeom prst="rect">
            <a:avLst/>
          </a:prstGeom>
          <a:noFill/>
        </p:spPr>
        <p:txBody>
          <a:bodyPr wrap="square">
            <a:spAutoFit/>
          </a:bodyPr>
          <a:lstStyle/>
          <a:p>
            <a:pPr>
              <a:lnSpc>
                <a:spcPct val="122000"/>
              </a:lnSpc>
              <a:spcAft>
                <a:spcPts val="1200"/>
              </a:spcAft>
            </a:pPr>
            <a:r>
              <a:rPr b="1" dirty="0">
                <a:solidFill>
                  <a:srgbClr val="0F172A"/>
                </a:solidFill>
                <a:latin typeface="Arial"/>
              </a:rPr>
              <a:t>• </a:t>
            </a:r>
            <a:r>
              <a:rPr lang="en-US" b="1" dirty="0">
                <a:solidFill>
                  <a:srgbClr val="0F172A"/>
                </a:solidFill>
                <a:latin typeface="Arial"/>
              </a:rPr>
              <a:t>Văn Nguyễn Thành </a:t>
            </a:r>
            <a:r>
              <a:rPr b="1" dirty="0">
                <a:solidFill>
                  <a:srgbClr val="0F172A"/>
                </a:solidFill>
                <a:latin typeface="Arial"/>
              </a:rPr>
              <a:t>Đạt</a:t>
            </a:r>
            <a:r>
              <a:rPr lang="en-US" b="1" dirty="0">
                <a:solidFill>
                  <a:srgbClr val="0F172A"/>
                </a:solidFill>
                <a:latin typeface="Arial"/>
              </a:rPr>
              <a:t>-3124411067</a:t>
            </a:r>
            <a:r>
              <a:rPr b="1" dirty="0">
                <a:solidFill>
                  <a:srgbClr val="0F172A"/>
                </a:solidFill>
                <a:latin typeface="Arial"/>
              </a:rPr>
              <a:t>: </a:t>
            </a:r>
            <a:r>
              <a:rPr b="0" dirty="0" err="1">
                <a:solidFill>
                  <a:srgbClr val="0F172A"/>
                </a:solidFill>
                <a:latin typeface="Arial"/>
              </a:rPr>
              <a:t>Phụ</a:t>
            </a:r>
            <a:r>
              <a:rPr b="0" dirty="0">
                <a:solidFill>
                  <a:srgbClr val="0F172A"/>
                </a:solidFill>
                <a:latin typeface="Arial"/>
              </a:rPr>
              <a:t> </a:t>
            </a:r>
            <a:r>
              <a:rPr b="0" dirty="0" err="1">
                <a:solidFill>
                  <a:srgbClr val="0F172A"/>
                </a:solidFill>
                <a:latin typeface="Arial"/>
              </a:rPr>
              <a:t>trách</a:t>
            </a:r>
            <a:r>
              <a:rPr b="0" dirty="0">
                <a:solidFill>
                  <a:srgbClr val="0F172A"/>
                </a:solidFill>
                <a:latin typeface="Arial"/>
              </a:rPr>
              <a:t> </a:t>
            </a:r>
            <a:r>
              <a:rPr b="0" dirty="0" err="1">
                <a:solidFill>
                  <a:srgbClr val="0F172A"/>
                </a:solidFill>
                <a:latin typeface="Arial"/>
              </a:rPr>
              <a:t>Mục</a:t>
            </a:r>
            <a:r>
              <a:rPr b="0" dirty="0">
                <a:solidFill>
                  <a:srgbClr val="0F172A"/>
                </a:solidFill>
                <a:latin typeface="Arial"/>
              </a:rPr>
              <a:t> 1 </a:t>
            </a:r>
            <a:r>
              <a:rPr b="0" dirty="0" err="1">
                <a:solidFill>
                  <a:srgbClr val="0F172A"/>
                </a:solidFill>
                <a:latin typeface="Arial"/>
              </a:rPr>
              <a:t>và</a:t>
            </a:r>
            <a:r>
              <a:rPr b="0" dirty="0">
                <a:solidFill>
                  <a:srgbClr val="0F172A"/>
                </a:solidFill>
                <a:latin typeface="Arial"/>
              </a:rPr>
              <a:t> </a:t>
            </a:r>
            <a:r>
              <a:rPr b="0" dirty="0" err="1">
                <a:solidFill>
                  <a:srgbClr val="0F172A"/>
                </a:solidFill>
                <a:latin typeface="Arial"/>
              </a:rPr>
              <a:t>Mục</a:t>
            </a:r>
            <a:r>
              <a:rPr b="0" dirty="0">
                <a:solidFill>
                  <a:srgbClr val="0F172A"/>
                </a:solidFill>
                <a:latin typeface="Arial"/>
              </a:rPr>
              <a:t> 2 - </a:t>
            </a:r>
            <a:r>
              <a:rPr b="0" dirty="0" err="1">
                <a:solidFill>
                  <a:srgbClr val="0F172A"/>
                </a:solidFill>
                <a:latin typeface="Arial"/>
              </a:rPr>
              <a:t>Khám</a:t>
            </a:r>
            <a:r>
              <a:rPr b="0" dirty="0">
                <a:solidFill>
                  <a:srgbClr val="0F172A"/>
                </a:solidFill>
                <a:latin typeface="Arial"/>
              </a:rPr>
              <a:t> </a:t>
            </a:r>
            <a:r>
              <a:rPr b="0" dirty="0" err="1">
                <a:solidFill>
                  <a:srgbClr val="0F172A"/>
                </a:solidFill>
                <a:latin typeface="Arial"/>
              </a:rPr>
              <a:t>phá</a:t>
            </a:r>
            <a:r>
              <a:rPr b="0" dirty="0">
                <a:solidFill>
                  <a:srgbClr val="0F172A"/>
                </a:solidFill>
                <a:latin typeface="Arial"/>
              </a:rPr>
              <a:t> </a:t>
            </a:r>
            <a:r>
              <a:rPr b="0" dirty="0" err="1">
                <a:solidFill>
                  <a:srgbClr val="0F172A"/>
                </a:solidFill>
                <a:latin typeface="Arial"/>
              </a:rPr>
              <a:t>cấu</a:t>
            </a:r>
            <a:r>
              <a:rPr b="0" dirty="0">
                <a:solidFill>
                  <a:srgbClr val="0F172A"/>
                </a:solidFill>
                <a:latin typeface="Arial"/>
              </a:rPr>
              <a:t> </a:t>
            </a:r>
            <a:r>
              <a:rPr b="0" dirty="0" err="1">
                <a:solidFill>
                  <a:srgbClr val="0F172A"/>
                </a:solidFill>
                <a:latin typeface="Arial"/>
              </a:rPr>
              <a:t>trúc</a:t>
            </a:r>
            <a:r>
              <a:rPr b="0" dirty="0">
                <a:solidFill>
                  <a:srgbClr val="0F172A"/>
                </a:solidFill>
                <a:latin typeface="Arial"/>
              </a:rPr>
              <a:t>, </a:t>
            </a:r>
            <a:r>
              <a:rPr b="0" dirty="0" err="1">
                <a:solidFill>
                  <a:srgbClr val="0F172A"/>
                </a:solidFill>
                <a:latin typeface="Arial"/>
              </a:rPr>
              <a:t>xác</a:t>
            </a:r>
            <a:r>
              <a:rPr b="0" dirty="0">
                <a:solidFill>
                  <a:srgbClr val="0F172A"/>
                </a:solidFill>
                <a:latin typeface="Arial"/>
              </a:rPr>
              <a:t> </a:t>
            </a:r>
            <a:r>
              <a:rPr b="0" dirty="0" err="1">
                <a:solidFill>
                  <a:srgbClr val="0F172A"/>
                </a:solidFill>
                <a:latin typeface="Arial"/>
              </a:rPr>
              <a:t>định</a:t>
            </a:r>
            <a:r>
              <a:rPr b="0" dirty="0">
                <a:solidFill>
                  <a:srgbClr val="0F172A"/>
                </a:solidFill>
                <a:latin typeface="Arial"/>
              </a:rPr>
              <a:t> </a:t>
            </a:r>
            <a:r>
              <a:rPr b="0" dirty="0" err="1">
                <a:solidFill>
                  <a:srgbClr val="0F172A"/>
                </a:solidFill>
                <a:latin typeface="Arial"/>
              </a:rPr>
              <a:t>tính</a:t>
            </a:r>
            <a:r>
              <a:rPr b="0" dirty="0">
                <a:solidFill>
                  <a:srgbClr val="0F172A"/>
                </a:solidFill>
                <a:latin typeface="Arial"/>
              </a:rPr>
              <a:t> </a:t>
            </a:r>
            <a:r>
              <a:rPr b="0" dirty="0" err="1">
                <a:solidFill>
                  <a:srgbClr val="0F172A"/>
                </a:solidFill>
                <a:latin typeface="Arial"/>
              </a:rPr>
              <a:t>chất</a:t>
            </a:r>
            <a:r>
              <a:rPr b="0" dirty="0">
                <a:solidFill>
                  <a:srgbClr val="0F172A"/>
                </a:solidFill>
                <a:latin typeface="Arial"/>
              </a:rPr>
              <a:t> </a:t>
            </a:r>
            <a:r>
              <a:rPr b="0" dirty="0" err="1">
                <a:solidFill>
                  <a:srgbClr val="0F172A"/>
                </a:solidFill>
                <a:latin typeface="Arial"/>
              </a:rPr>
              <a:t>dữ</a:t>
            </a:r>
            <a:r>
              <a:rPr b="0" dirty="0">
                <a:solidFill>
                  <a:srgbClr val="0F172A"/>
                </a:solidFill>
                <a:latin typeface="Arial"/>
              </a:rPr>
              <a:t> </a:t>
            </a:r>
            <a:r>
              <a:rPr b="0" dirty="0" err="1">
                <a:solidFill>
                  <a:srgbClr val="0F172A"/>
                </a:solidFill>
                <a:latin typeface="Arial"/>
              </a:rPr>
              <a:t>liệu</a:t>
            </a:r>
            <a:r>
              <a:rPr b="0" dirty="0">
                <a:solidFill>
                  <a:srgbClr val="0F172A"/>
                </a:solidFill>
                <a:latin typeface="Arial"/>
              </a:rPr>
              <a:t> </a:t>
            </a:r>
            <a:r>
              <a:rPr b="0" dirty="0" err="1">
                <a:solidFill>
                  <a:srgbClr val="0F172A"/>
                </a:solidFill>
                <a:latin typeface="Arial"/>
              </a:rPr>
              <a:t>và</a:t>
            </a:r>
            <a:r>
              <a:rPr b="0" dirty="0">
                <a:solidFill>
                  <a:srgbClr val="0F172A"/>
                </a:solidFill>
                <a:latin typeface="Arial"/>
              </a:rPr>
              <a:t> </a:t>
            </a:r>
            <a:r>
              <a:rPr b="0" dirty="0" err="1">
                <a:solidFill>
                  <a:srgbClr val="0F172A"/>
                </a:solidFill>
                <a:latin typeface="Arial"/>
              </a:rPr>
              <a:t>kiểm</a:t>
            </a:r>
            <a:r>
              <a:rPr b="0" dirty="0">
                <a:solidFill>
                  <a:srgbClr val="0F172A"/>
                </a:solidFill>
                <a:latin typeface="Arial"/>
              </a:rPr>
              <a:t> </a:t>
            </a:r>
            <a:r>
              <a:rPr b="0" dirty="0" err="1">
                <a:solidFill>
                  <a:srgbClr val="0F172A"/>
                </a:solidFill>
                <a:latin typeface="Arial"/>
              </a:rPr>
              <a:t>tra</a:t>
            </a:r>
            <a:r>
              <a:rPr b="0" dirty="0">
                <a:solidFill>
                  <a:srgbClr val="0F172A"/>
                </a:solidFill>
                <a:latin typeface="Arial"/>
              </a:rPr>
              <a:t> </a:t>
            </a:r>
            <a:r>
              <a:rPr b="0" dirty="0" err="1">
                <a:solidFill>
                  <a:srgbClr val="0F172A"/>
                </a:solidFill>
                <a:latin typeface="Arial"/>
              </a:rPr>
              <a:t>trùng</a:t>
            </a:r>
            <a:r>
              <a:rPr b="0" dirty="0">
                <a:solidFill>
                  <a:srgbClr val="0F172A"/>
                </a:solidFill>
                <a:latin typeface="Arial"/>
              </a:rPr>
              <a:t> </a:t>
            </a:r>
            <a:r>
              <a:rPr b="0" dirty="0" err="1">
                <a:solidFill>
                  <a:srgbClr val="0F172A"/>
                </a:solidFill>
                <a:latin typeface="Arial"/>
              </a:rPr>
              <a:t>lặp</a:t>
            </a:r>
            <a:r>
              <a:rPr b="0" dirty="0">
                <a:solidFill>
                  <a:srgbClr val="0F172A"/>
                </a:solidFill>
                <a:latin typeface="Arial"/>
              </a:rPr>
              <a:t>.</a:t>
            </a:r>
          </a:p>
          <a:p>
            <a:pPr>
              <a:lnSpc>
                <a:spcPct val="122000"/>
              </a:lnSpc>
              <a:spcAft>
                <a:spcPts val="1200"/>
              </a:spcAft>
            </a:pPr>
            <a:r>
              <a:rPr b="1" dirty="0">
                <a:solidFill>
                  <a:srgbClr val="0F172A"/>
                </a:solidFill>
                <a:latin typeface="Arial"/>
              </a:rPr>
              <a:t>• </a:t>
            </a:r>
            <a:r>
              <a:rPr lang="en-US" b="1" dirty="0">
                <a:solidFill>
                  <a:srgbClr val="0F172A"/>
                </a:solidFill>
                <a:latin typeface="Arial"/>
              </a:rPr>
              <a:t>Lê Văn </a:t>
            </a:r>
            <a:r>
              <a:rPr b="1" dirty="0">
                <a:solidFill>
                  <a:srgbClr val="0F172A"/>
                </a:solidFill>
                <a:latin typeface="Arial"/>
              </a:rPr>
              <a:t>Hiếu</a:t>
            </a:r>
            <a:r>
              <a:rPr lang="en-US" b="1" dirty="0">
                <a:solidFill>
                  <a:srgbClr val="0F172A"/>
                </a:solidFill>
                <a:latin typeface="Arial"/>
              </a:rPr>
              <a:t>-3124411091</a:t>
            </a:r>
            <a:r>
              <a:rPr b="1" dirty="0">
                <a:solidFill>
                  <a:srgbClr val="0F172A"/>
                </a:solidFill>
                <a:latin typeface="Arial"/>
              </a:rPr>
              <a:t>: </a:t>
            </a:r>
            <a:r>
              <a:rPr b="0" dirty="0" err="1">
                <a:solidFill>
                  <a:srgbClr val="0F172A"/>
                </a:solidFill>
                <a:latin typeface="Arial"/>
              </a:rPr>
              <a:t>Phụ</a:t>
            </a:r>
            <a:r>
              <a:rPr b="0" dirty="0">
                <a:solidFill>
                  <a:srgbClr val="0F172A"/>
                </a:solidFill>
                <a:latin typeface="Arial"/>
              </a:rPr>
              <a:t> </a:t>
            </a:r>
            <a:r>
              <a:rPr b="0" dirty="0" err="1">
                <a:solidFill>
                  <a:srgbClr val="0F172A"/>
                </a:solidFill>
                <a:latin typeface="Arial"/>
              </a:rPr>
              <a:t>trách</a:t>
            </a:r>
            <a:r>
              <a:rPr b="0" dirty="0">
                <a:solidFill>
                  <a:srgbClr val="0F172A"/>
                </a:solidFill>
                <a:latin typeface="Arial"/>
              </a:rPr>
              <a:t> </a:t>
            </a:r>
            <a:r>
              <a:rPr b="0" dirty="0" err="1">
                <a:solidFill>
                  <a:srgbClr val="0F172A"/>
                </a:solidFill>
                <a:latin typeface="Arial"/>
              </a:rPr>
              <a:t>Mục</a:t>
            </a:r>
            <a:r>
              <a:rPr b="0" dirty="0">
                <a:solidFill>
                  <a:srgbClr val="0F172A"/>
                </a:solidFill>
                <a:latin typeface="Arial"/>
              </a:rPr>
              <a:t> 3 </a:t>
            </a:r>
            <a:r>
              <a:rPr b="0" dirty="0" err="1">
                <a:solidFill>
                  <a:srgbClr val="0F172A"/>
                </a:solidFill>
                <a:latin typeface="Arial"/>
              </a:rPr>
              <a:t>và</a:t>
            </a:r>
            <a:r>
              <a:rPr b="0" dirty="0">
                <a:solidFill>
                  <a:srgbClr val="0F172A"/>
                </a:solidFill>
                <a:latin typeface="Arial"/>
              </a:rPr>
              <a:t> </a:t>
            </a:r>
            <a:r>
              <a:rPr b="0" dirty="0" err="1">
                <a:solidFill>
                  <a:srgbClr val="0F172A"/>
                </a:solidFill>
                <a:latin typeface="Arial"/>
              </a:rPr>
              <a:t>Mục</a:t>
            </a:r>
            <a:r>
              <a:rPr b="0" dirty="0">
                <a:solidFill>
                  <a:srgbClr val="0F172A"/>
                </a:solidFill>
                <a:latin typeface="Arial"/>
              </a:rPr>
              <a:t> 4 - </a:t>
            </a:r>
            <a:r>
              <a:rPr b="0" dirty="0" err="1">
                <a:solidFill>
                  <a:srgbClr val="0F172A"/>
                </a:solidFill>
                <a:latin typeface="Arial"/>
              </a:rPr>
              <a:t>Xác</a:t>
            </a:r>
            <a:r>
              <a:rPr b="0" dirty="0">
                <a:solidFill>
                  <a:srgbClr val="0F172A"/>
                </a:solidFill>
                <a:latin typeface="Arial"/>
              </a:rPr>
              <a:t> </a:t>
            </a:r>
            <a:r>
              <a:rPr b="0" dirty="0" err="1">
                <a:solidFill>
                  <a:srgbClr val="0F172A"/>
                </a:solidFill>
                <a:latin typeface="Arial"/>
              </a:rPr>
              <a:t>định</a:t>
            </a:r>
            <a:r>
              <a:rPr b="0" dirty="0">
                <a:solidFill>
                  <a:srgbClr val="0F172A"/>
                </a:solidFill>
                <a:latin typeface="Arial"/>
              </a:rPr>
              <a:t> </a:t>
            </a:r>
            <a:r>
              <a:rPr b="0" dirty="0" err="1">
                <a:solidFill>
                  <a:srgbClr val="0F172A"/>
                </a:solidFill>
                <a:latin typeface="Arial"/>
              </a:rPr>
              <a:t>giá</a:t>
            </a:r>
            <a:r>
              <a:rPr b="0" dirty="0">
                <a:solidFill>
                  <a:srgbClr val="0F172A"/>
                </a:solidFill>
                <a:latin typeface="Arial"/>
              </a:rPr>
              <a:t> </a:t>
            </a:r>
            <a:r>
              <a:rPr b="0" dirty="0" err="1">
                <a:solidFill>
                  <a:srgbClr val="0F172A"/>
                </a:solidFill>
                <a:latin typeface="Arial"/>
              </a:rPr>
              <a:t>trị</a:t>
            </a:r>
            <a:r>
              <a:rPr b="0" dirty="0">
                <a:solidFill>
                  <a:srgbClr val="0F172A"/>
                </a:solidFill>
                <a:latin typeface="Arial"/>
              </a:rPr>
              <a:t> </a:t>
            </a:r>
            <a:r>
              <a:rPr b="0" dirty="0" err="1">
                <a:solidFill>
                  <a:srgbClr val="0F172A"/>
                </a:solidFill>
                <a:latin typeface="Arial"/>
              </a:rPr>
              <a:t>thiếu</a:t>
            </a:r>
            <a:r>
              <a:rPr b="0" dirty="0">
                <a:solidFill>
                  <a:srgbClr val="0F172A"/>
                </a:solidFill>
                <a:latin typeface="Arial"/>
              </a:rPr>
              <a:t>, </a:t>
            </a:r>
            <a:r>
              <a:rPr b="0" dirty="0" err="1">
                <a:solidFill>
                  <a:srgbClr val="0F172A"/>
                </a:solidFill>
                <a:latin typeface="Arial"/>
              </a:rPr>
              <a:t>mẫu</a:t>
            </a:r>
            <a:r>
              <a:rPr b="0" dirty="0">
                <a:solidFill>
                  <a:srgbClr val="0F172A"/>
                </a:solidFill>
                <a:latin typeface="Arial"/>
              </a:rPr>
              <a:t> </a:t>
            </a:r>
            <a:r>
              <a:rPr b="0" dirty="0" err="1">
                <a:solidFill>
                  <a:srgbClr val="0F172A"/>
                </a:solidFill>
                <a:latin typeface="Arial"/>
              </a:rPr>
              <a:t>bất</a:t>
            </a:r>
            <a:r>
              <a:rPr b="0" dirty="0">
                <a:solidFill>
                  <a:srgbClr val="0F172A"/>
                </a:solidFill>
                <a:latin typeface="Arial"/>
              </a:rPr>
              <a:t> </a:t>
            </a:r>
            <a:r>
              <a:rPr b="0" dirty="0" err="1">
                <a:solidFill>
                  <a:srgbClr val="0F172A"/>
                </a:solidFill>
                <a:latin typeface="Arial"/>
              </a:rPr>
              <a:t>thường</a:t>
            </a:r>
            <a:r>
              <a:rPr b="0" dirty="0">
                <a:solidFill>
                  <a:srgbClr val="0F172A"/>
                </a:solidFill>
                <a:latin typeface="Arial"/>
              </a:rPr>
              <a:t> </a:t>
            </a:r>
            <a:r>
              <a:rPr b="0" dirty="0" err="1">
                <a:solidFill>
                  <a:srgbClr val="0F172A"/>
                </a:solidFill>
                <a:latin typeface="Arial"/>
              </a:rPr>
              <a:t>và</a:t>
            </a:r>
            <a:r>
              <a:rPr b="0" dirty="0">
                <a:solidFill>
                  <a:srgbClr val="0F172A"/>
                </a:solidFill>
                <a:latin typeface="Arial"/>
              </a:rPr>
              <a:t> </a:t>
            </a:r>
            <a:r>
              <a:rPr b="0" dirty="0" err="1">
                <a:solidFill>
                  <a:srgbClr val="0F172A"/>
                </a:solidFill>
                <a:latin typeface="Arial"/>
              </a:rPr>
              <a:t>phát</a:t>
            </a:r>
            <a:r>
              <a:rPr b="0" dirty="0">
                <a:solidFill>
                  <a:srgbClr val="0F172A"/>
                </a:solidFill>
                <a:latin typeface="Arial"/>
              </a:rPr>
              <a:t> </a:t>
            </a:r>
            <a:r>
              <a:rPr b="0" dirty="0" err="1">
                <a:solidFill>
                  <a:srgbClr val="0F172A"/>
                </a:solidFill>
                <a:latin typeface="Arial"/>
              </a:rPr>
              <a:t>hiện</a:t>
            </a:r>
            <a:r>
              <a:rPr b="0" dirty="0">
                <a:solidFill>
                  <a:srgbClr val="0F172A"/>
                </a:solidFill>
                <a:latin typeface="Arial"/>
              </a:rPr>
              <a:t> </a:t>
            </a:r>
            <a:r>
              <a:rPr b="0" dirty="0" err="1">
                <a:solidFill>
                  <a:srgbClr val="0F172A"/>
                </a:solidFill>
                <a:latin typeface="Arial"/>
              </a:rPr>
              <a:t>ngoại</a:t>
            </a:r>
            <a:r>
              <a:rPr b="0" dirty="0">
                <a:solidFill>
                  <a:srgbClr val="0F172A"/>
                </a:solidFill>
                <a:latin typeface="Arial"/>
              </a:rPr>
              <a:t> </a:t>
            </a:r>
            <a:r>
              <a:rPr b="0" dirty="0" err="1">
                <a:solidFill>
                  <a:srgbClr val="0F172A"/>
                </a:solidFill>
                <a:latin typeface="Arial"/>
              </a:rPr>
              <a:t>lệ</a:t>
            </a:r>
            <a:r>
              <a:rPr b="0" dirty="0">
                <a:solidFill>
                  <a:srgbClr val="0F172A"/>
                </a:solidFill>
                <a:latin typeface="Arial"/>
              </a:rPr>
              <a:t>.</a:t>
            </a:r>
          </a:p>
          <a:p>
            <a:pPr>
              <a:lnSpc>
                <a:spcPct val="122000"/>
              </a:lnSpc>
              <a:spcAft>
                <a:spcPts val="1200"/>
              </a:spcAft>
            </a:pPr>
            <a:r>
              <a:rPr b="1" dirty="0">
                <a:solidFill>
                  <a:srgbClr val="0F172A"/>
                </a:solidFill>
                <a:latin typeface="Arial"/>
              </a:rPr>
              <a:t>• </a:t>
            </a:r>
            <a:r>
              <a:rPr lang="en-US" b="1" dirty="0" err="1">
                <a:solidFill>
                  <a:srgbClr val="0F172A"/>
                </a:solidFill>
                <a:latin typeface="Arial"/>
              </a:rPr>
              <a:t>Cái</a:t>
            </a:r>
            <a:r>
              <a:rPr lang="en-US" b="1" dirty="0">
                <a:solidFill>
                  <a:srgbClr val="0F172A"/>
                </a:solidFill>
                <a:latin typeface="Arial"/>
              </a:rPr>
              <a:t> </a:t>
            </a:r>
            <a:r>
              <a:rPr lang="en-US" b="1" dirty="0" err="1">
                <a:solidFill>
                  <a:srgbClr val="0F172A"/>
                </a:solidFill>
                <a:latin typeface="Arial"/>
              </a:rPr>
              <a:t>Trần</a:t>
            </a:r>
            <a:r>
              <a:rPr lang="en-US" b="1" dirty="0">
                <a:solidFill>
                  <a:srgbClr val="0F172A"/>
                </a:solidFill>
                <a:latin typeface="Arial"/>
              </a:rPr>
              <a:t> Minh</a:t>
            </a:r>
            <a:r>
              <a:rPr b="1" dirty="0">
                <a:solidFill>
                  <a:srgbClr val="0F172A"/>
                </a:solidFill>
                <a:latin typeface="Arial"/>
              </a:rPr>
              <a:t>Tiến</a:t>
            </a:r>
            <a:r>
              <a:rPr lang="en-US" b="1" dirty="0">
                <a:solidFill>
                  <a:srgbClr val="0F172A"/>
                </a:solidFill>
                <a:latin typeface="Arial"/>
              </a:rPr>
              <a:t>-3124411309</a:t>
            </a:r>
            <a:r>
              <a:rPr b="1" dirty="0">
                <a:solidFill>
                  <a:srgbClr val="0F172A"/>
                </a:solidFill>
                <a:latin typeface="Arial"/>
              </a:rPr>
              <a:t>: </a:t>
            </a:r>
            <a:r>
              <a:rPr b="0" dirty="0" err="1">
                <a:solidFill>
                  <a:srgbClr val="0F172A"/>
                </a:solidFill>
                <a:latin typeface="Arial"/>
              </a:rPr>
              <a:t>Phụ</a:t>
            </a:r>
            <a:r>
              <a:rPr b="0" dirty="0">
                <a:solidFill>
                  <a:srgbClr val="0F172A"/>
                </a:solidFill>
                <a:latin typeface="Arial"/>
              </a:rPr>
              <a:t> </a:t>
            </a:r>
            <a:r>
              <a:rPr b="0" dirty="0" err="1">
                <a:solidFill>
                  <a:srgbClr val="0F172A"/>
                </a:solidFill>
                <a:latin typeface="Arial"/>
              </a:rPr>
              <a:t>trách</a:t>
            </a:r>
            <a:r>
              <a:rPr b="0" dirty="0">
                <a:solidFill>
                  <a:srgbClr val="0F172A"/>
                </a:solidFill>
                <a:latin typeface="Arial"/>
              </a:rPr>
              <a:t> </a:t>
            </a:r>
            <a:r>
              <a:rPr b="0" dirty="0" err="1">
                <a:solidFill>
                  <a:srgbClr val="0F172A"/>
                </a:solidFill>
                <a:latin typeface="Arial"/>
              </a:rPr>
              <a:t>Mục</a:t>
            </a:r>
            <a:r>
              <a:rPr b="0" dirty="0">
                <a:solidFill>
                  <a:srgbClr val="0F172A"/>
                </a:solidFill>
                <a:latin typeface="Arial"/>
              </a:rPr>
              <a:t> 5 </a:t>
            </a:r>
            <a:r>
              <a:rPr b="0" dirty="0" err="1">
                <a:solidFill>
                  <a:srgbClr val="0F172A"/>
                </a:solidFill>
                <a:latin typeface="Arial"/>
              </a:rPr>
              <a:t>và</a:t>
            </a:r>
            <a:r>
              <a:rPr b="0" dirty="0">
                <a:solidFill>
                  <a:srgbClr val="0F172A"/>
                </a:solidFill>
                <a:latin typeface="Arial"/>
              </a:rPr>
              <a:t> </a:t>
            </a:r>
            <a:r>
              <a:rPr b="0" dirty="0" err="1">
                <a:solidFill>
                  <a:srgbClr val="0F172A"/>
                </a:solidFill>
                <a:latin typeface="Arial"/>
              </a:rPr>
              <a:t>Mục</a:t>
            </a:r>
            <a:r>
              <a:rPr b="0" dirty="0">
                <a:solidFill>
                  <a:srgbClr val="0F172A"/>
                </a:solidFill>
                <a:latin typeface="Arial"/>
              </a:rPr>
              <a:t> 6 - </a:t>
            </a:r>
            <a:r>
              <a:rPr b="0" dirty="0" err="1">
                <a:solidFill>
                  <a:srgbClr val="0F172A"/>
                </a:solidFill>
                <a:latin typeface="Arial"/>
              </a:rPr>
              <a:t>Phân</a:t>
            </a:r>
            <a:r>
              <a:rPr b="0" dirty="0">
                <a:solidFill>
                  <a:srgbClr val="0F172A"/>
                </a:solidFill>
                <a:latin typeface="Arial"/>
              </a:rPr>
              <a:t> </a:t>
            </a:r>
            <a:r>
              <a:rPr b="0" dirty="0" err="1">
                <a:solidFill>
                  <a:srgbClr val="0F172A"/>
                </a:solidFill>
                <a:latin typeface="Arial"/>
              </a:rPr>
              <a:t>tích</a:t>
            </a:r>
            <a:r>
              <a:rPr b="0" dirty="0">
                <a:solidFill>
                  <a:srgbClr val="0F172A"/>
                </a:solidFill>
                <a:latin typeface="Arial"/>
              </a:rPr>
              <a:t> </a:t>
            </a:r>
            <a:r>
              <a:rPr b="0" dirty="0" err="1">
                <a:solidFill>
                  <a:srgbClr val="0F172A"/>
                </a:solidFill>
                <a:latin typeface="Arial"/>
              </a:rPr>
              <a:t>đơn</a:t>
            </a:r>
            <a:r>
              <a:rPr b="0" dirty="0">
                <a:solidFill>
                  <a:srgbClr val="0F172A"/>
                </a:solidFill>
                <a:latin typeface="Arial"/>
              </a:rPr>
              <a:t> </a:t>
            </a:r>
            <a:r>
              <a:rPr b="0" dirty="0" err="1">
                <a:solidFill>
                  <a:srgbClr val="0F172A"/>
                </a:solidFill>
                <a:latin typeface="Arial"/>
              </a:rPr>
              <a:t>biến</a:t>
            </a:r>
            <a:r>
              <a:rPr b="0" dirty="0">
                <a:solidFill>
                  <a:srgbClr val="0F172A"/>
                </a:solidFill>
                <a:latin typeface="Arial"/>
              </a:rPr>
              <a:t> </a:t>
            </a:r>
            <a:r>
              <a:rPr b="0" dirty="0" err="1">
                <a:solidFill>
                  <a:srgbClr val="0F172A"/>
                </a:solidFill>
                <a:latin typeface="Arial"/>
              </a:rPr>
              <a:t>và</a:t>
            </a:r>
            <a:r>
              <a:rPr b="0" dirty="0">
                <a:solidFill>
                  <a:srgbClr val="0F172A"/>
                </a:solidFill>
                <a:latin typeface="Arial"/>
              </a:rPr>
              <a:t> </a:t>
            </a:r>
            <a:r>
              <a:rPr b="0" dirty="0" err="1">
                <a:solidFill>
                  <a:srgbClr val="0F172A"/>
                </a:solidFill>
                <a:latin typeface="Arial"/>
              </a:rPr>
              <a:t>phân</a:t>
            </a:r>
            <a:r>
              <a:rPr b="0" dirty="0">
                <a:solidFill>
                  <a:srgbClr val="0F172A"/>
                </a:solidFill>
                <a:latin typeface="Arial"/>
              </a:rPr>
              <a:t> </a:t>
            </a:r>
            <a:r>
              <a:rPr b="0" dirty="0" err="1">
                <a:solidFill>
                  <a:srgbClr val="0F172A"/>
                </a:solidFill>
                <a:latin typeface="Arial"/>
              </a:rPr>
              <a:t>tích</a:t>
            </a:r>
            <a:r>
              <a:rPr b="0" dirty="0">
                <a:solidFill>
                  <a:srgbClr val="0F172A"/>
                </a:solidFill>
                <a:latin typeface="Arial"/>
              </a:rPr>
              <a:t> </a:t>
            </a:r>
            <a:r>
              <a:rPr b="0" dirty="0" err="1">
                <a:solidFill>
                  <a:srgbClr val="0F172A"/>
                </a:solidFill>
                <a:latin typeface="Arial"/>
              </a:rPr>
              <a:t>đa</a:t>
            </a:r>
            <a:r>
              <a:rPr b="0" dirty="0">
                <a:solidFill>
                  <a:srgbClr val="0F172A"/>
                </a:solidFill>
                <a:latin typeface="Arial"/>
              </a:rPr>
              <a:t> </a:t>
            </a:r>
            <a:r>
              <a:rPr b="0" dirty="0" err="1">
                <a:solidFill>
                  <a:srgbClr val="0F172A"/>
                </a:solidFill>
                <a:latin typeface="Arial"/>
              </a:rPr>
              <a:t>biến</a:t>
            </a:r>
            <a:r>
              <a:rPr b="0" dirty="0">
                <a:solidFill>
                  <a:srgbClr val="0F172A"/>
                </a:solidFill>
                <a:latin typeface="Arial"/>
              </a:rPr>
              <a:t>, </a:t>
            </a:r>
            <a:r>
              <a:rPr b="0" dirty="0" err="1">
                <a:solidFill>
                  <a:srgbClr val="0F172A"/>
                </a:solidFill>
                <a:latin typeface="Arial"/>
              </a:rPr>
              <a:t>tương</a:t>
            </a:r>
            <a:r>
              <a:rPr b="0" dirty="0">
                <a:solidFill>
                  <a:srgbClr val="0F172A"/>
                </a:solidFill>
                <a:latin typeface="Arial"/>
              </a:rPr>
              <a:t> </a:t>
            </a:r>
            <a:r>
              <a:rPr b="0" dirty="0" err="1">
                <a:solidFill>
                  <a:srgbClr val="0F172A"/>
                </a:solidFill>
                <a:latin typeface="Arial"/>
              </a:rPr>
              <a:t>quan</a:t>
            </a:r>
            <a:r>
              <a:rPr b="0" dirty="0">
                <a:solidFill>
                  <a:srgbClr val="0F172A"/>
                </a:solidFill>
                <a:latin typeface="Arial"/>
              </a:rPr>
              <a:t> </a:t>
            </a:r>
            <a:r>
              <a:rPr b="0" dirty="0" err="1">
                <a:solidFill>
                  <a:srgbClr val="0F172A"/>
                </a:solidFill>
                <a:latin typeface="Arial"/>
              </a:rPr>
              <a:t>đặc</a:t>
            </a:r>
            <a:r>
              <a:rPr b="0" dirty="0">
                <a:solidFill>
                  <a:srgbClr val="0F172A"/>
                </a:solidFill>
                <a:latin typeface="Arial"/>
              </a:rPr>
              <a:t> </a:t>
            </a:r>
            <a:r>
              <a:rPr b="0" dirty="0" err="1">
                <a:solidFill>
                  <a:srgbClr val="0F172A"/>
                </a:solidFill>
                <a:latin typeface="Arial"/>
              </a:rPr>
              <a:t>trưng</a:t>
            </a:r>
            <a:r>
              <a:rPr b="0" dirty="0">
                <a:solidFill>
                  <a:srgbClr val="0F172A"/>
                </a:solidFill>
                <a:latin typeface="Arial"/>
              </a:rPr>
              <a:t>.</a:t>
            </a:r>
          </a:p>
          <a:p>
            <a:pPr>
              <a:lnSpc>
                <a:spcPct val="122000"/>
              </a:lnSpc>
              <a:spcAft>
                <a:spcPts val="1200"/>
              </a:spcAft>
            </a:pPr>
            <a:r>
              <a:rPr b="1" dirty="0">
                <a:solidFill>
                  <a:srgbClr val="0F172A"/>
                </a:solidFill>
                <a:latin typeface="Arial"/>
              </a:rPr>
              <a:t>• </a:t>
            </a:r>
            <a:r>
              <a:rPr lang="en-US" b="1" dirty="0">
                <a:solidFill>
                  <a:srgbClr val="0F172A"/>
                </a:solidFill>
                <a:latin typeface="Arial"/>
              </a:rPr>
              <a:t>Dương Gia </a:t>
            </a:r>
            <a:r>
              <a:rPr b="1" dirty="0">
                <a:solidFill>
                  <a:srgbClr val="0F172A"/>
                </a:solidFill>
                <a:latin typeface="Arial"/>
              </a:rPr>
              <a:t>Phát</a:t>
            </a:r>
            <a:r>
              <a:rPr lang="en-US" b="1" dirty="0">
                <a:solidFill>
                  <a:srgbClr val="0F172A"/>
                </a:solidFill>
                <a:latin typeface="Arial"/>
              </a:rPr>
              <a:t>-3124411212</a:t>
            </a:r>
            <a:r>
              <a:rPr b="1" dirty="0">
                <a:solidFill>
                  <a:srgbClr val="0F172A"/>
                </a:solidFill>
                <a:latin typeface="Arial"/>
              </a:rPr>
              <a:t>: </a:t>
            </a:r>
            <a:r>
              <a:rPr b="0" dirty="0" err="1">
                <a:solidFill>
                  <a:srgbClr val="0F172A"/>
                </a:solidFill>
                <a:latin typeface="Arial"/>
              </a:rPr>
              <a:t>Phụ</a:t>
            </a:r>
            <a:r>
              <a:rPr b="0" dirty="0">
                <a:solidFill>
                  <a:srgbClr val="0F172A"/>
                </a:solidFill>
                <a:latin typeface="Arial"/>
              </a:rPr>
              <a:t> </a:t>
            </a:r>
            <a:r>
              <a:rPr b="0" dirty="0" err="1">
                <a:solidFill>
                  <a:srgbClr val="0F172A"/>
                </a:solidFill>
                <a:latin typeface="Arial"/>
              </a:rPr>
              <a:t>trách</a:t>
            </a:r>
            <a:r>
              <a:rPr b="0" dirty="0">
                <a:solidFill>
                  <a:srgbClr val="0F172A"/>
                </a:solidFill>
                <a:latin typeface="Arial"/>
              </a:rPr>
              <a:t> </a:t>
            </a:r>
            <a:r>
              <a:rPr b="0" dirty="0" err="1">
                <a:solidFill>
                  <a:srgbClr val="0F172A"/>
                </a:solidFill>
                <a:latin typeface="Arial"/>
              </a:rPr>
              <a:t>Mục</a:t>
            </a:r>
            <a:r>
              <a:rPr b="0" dirty="0">
                <a:solidFill>
                  <a:srgbClr val="0F172A"/>
                </a:solidFill>
                <a:latin typeface="Arial"/>
              </a:rPr>
              <a:t> 7 - </a:t>
            </a:r>
            <a:r>
              <a:rPr b="0" dirty="0" err="1">
                <a:solidFill>
                  <a:srgbClr val="0F172A"/>
                </a:solidFill>
                <a:latin typeface="Arial"/>
              </a:rPr>
              <a:t>Kiểm</a:t>
            </a:r>
            <a:r>
              <a:rPr b="0" dirty="0">
                <a:solidFill>
                  <a:srgbClr val="0F172A"/>
                </a:solidFill>
                <a:latin typeface="Arial"/>
              </a:rPr>
              <a:t> </a:t>
            </a:r>
            <a:r>
              <a:rPr b="0" dirty="0" err="1">
                <a:solidFill>
                  <a:srgbClr val="0F172A"/>
                </a:solidFill>
                <a:latin typeface="Arial"/>
              </a:rPr>
              <a:t>tra</a:t>
            </a:r>
            <a:r>
              <a:rPr b="0" dirty="0">
                <a:solidFill>
                  <a:srgbClr val="0F172A"/>
                </a:solidFill>
                <a:latin typeface="Arial"/>
              </a:rPr>
              <a:t> </a:t>
            </a:r>
            <a:r>
              <a:rPr b="0" dirty="0" err="1">
                <a:solidFill>
                  <a:srgbClr val="0F172A"/>
                </a:solidFill>
                <a:latin typeface="Arial"/>
              </a:rPr>
              <a:t>độ</a:t>
            </a:r>
            <a:r>
              <a:rPr b="0" dirty="0">
                <a:solidFill>
                  <a:srgbClr val="0F172A"/>
                </a:solidFill>
                <a:latin typeface="Arial"/>
              </a:rPr>
              <a:t> </a:t>
            </a:r>
            <a:r>
              <a:rPr b="0" dirty="0" err="1">
                <a:solidFill>
                  <a:srgbClr val="0F172A"/>
                </a:solidFill>
                <a:latin typeface="Arial"/>
              </a:rPr>
              <a:t>cân</a:t>
            </a:r>
            <a:r>
              <a:rPr b="0" dirty="0">
                <a:solidFill>
                  <a:srgbClr val="0F172A"/>
                </a:solidFill>
                <a:latin typeface="Arial"/>
              </a:rPr>
              <a:t> </a:t>
            </a:r>
            <a:r>
              <a:rPr b="0" dirty="0" err="1">
                <a:solidFill>
                  <a:srgbClr val="0F172A"/>
                </a:solidFill>
                <a:latin typeface="Arial"/>
              </a:rPr>
              <a:t>bằng</a:t>
            </a:r>
            <a:r>
              <a:rPr b="0" dirty="0">
                <a:solidFill>
                  <a:srgbClr val="0F172A"/>
                </a:solidFill>
                <a:latin typeface="Arial"/>
              </a:rPr>
              <a:t> </a:t>
            </a:r>
            <a:r>
              <a:rPr b="0" dirty="0" err="1">
                <a:solidFill>
                  <a:srgbClr val="0F172A"/>
                </a:solidFill>
                <a:latin typeface="Arial"/>
              </a:rPr>
              <a:t>phân</a:t>
            </a:r>
            <a:r>
              <a:rPr b="0" dirty="0">
                <a:solidFill>
                  <a:srgbClr val="0F172A"/>
                </a:solidFill>
                <a:latin typeface="Arial"/>
              </a:rPr>
              <a:t> </a:t>
            </a:r>
            <a:r>
              <a:rPr b="0" dirty="0" err="1">
                <a:solidFill>
                  <a:srgbClr val="0F172A"/>
                </a:solidFill>
                <a:latin typeface="Arial"/>
              </a:rPr>
              <a:t>bố</a:t>
            </a:r>
            <a:r>
              <a:rPr b="0" dirty="0">
                <a:solidFill>
                  <a:srgbClr val="0F172A"/>
                </a:solidFill>
                <a:latin typeface="Arial"/>
              </a:rPr>
              <a:t> </a:t>
            </a:r>
            <a:r>
              <a:rPr b="0" dirty="0" err="1">
                <a:solidFill>
                  <a:srgbClr val="0F172A"/>
                </a:solidFill>
                <a:latin typeface="Arial"/>
              </a:rPr>
              <a:t>của</a:t>
            </a:r>
            <a:r>
              <a:rPr b="0" dirty="0">
                <a:solidFill>
                  <a:srgbClr val="0F172A"/>
                </a:solidFill>
                <a:latin typeface="Arial"/>
              </a:rPr>
              <a:t> </a:t>
            </a:r>
            <a:r>
              <a:rPr b="0" dirty="0" err="1">
                <a:solidFill>
                  <a:srgbClr val="0F172A"/>
                </a:solidFill>
                <a:latin typeface="Arial"/>
              </a:rPr>
              <a:t>nhãn</a:t>
            </a:r>
            <a:r>
              <a:rPr b="0" dirty="0">
                <a:solidFill>
                  <a:srgbClr val="0F172A"/>
                </a:solidFill>
                <a:latin typeface="Arial"/>
              </a:rPr>
              <a:t> </a:t>
            </a:r>
            <a:r>
              <a:rPr b="0" dirty="0" err="1">
                <a:solidFill>
                  <a:srgbClr val="0F172A"/>
                </a:solidFill>
                <a:latin typeface="Arial"/>
              </a:rPr>
              <a:t>mục</a:t>
            </a:r>
            <a:r>
              <a:rPr b="0" dirty="0">
                <a:solidFill>
                  <a:srgbClr val="0F172A"/>
                </a:solidFill>
                <a:latin typeface="Arial"/>
              </a:rPr>
              <a:t> </a:t>
            </a:r>
            <a:r>
              <a:rPr b="0" dirty="0" err="1">
                <a:solidFill>
                  <a:srgbClr val="0F172A"/>
                </a:solidFill>
                <a:latin typeface="Arial"/>
              </a:rPr>
              <a:t>tiêu</a:t>
            </a:r>
            <a:r>
              <a:rPr b="0" dirty="0">
                <a:solidFill>
                  <a:srgbClr val="0F172A"/>
                </a:solidFill>
                <a:latin typeface="Arial"/>
              </a:rPr>
              <a:t> </a:t>
            </a:r>
            <a:r>
              <a:rPr b="0" dirty="0" err="1">
                <a:solidFill>
                  <a:srgbClr val="0F172A"/>
                </a:solidFill>
                <a:latin typeface="Arial"/>
              </a:rPr>
              <a:t>và</a:t>
            </a:r>
            <a:r>
              <a:rPr b="0" dirty="0">
                <a:solidFill>
                  <a:srgbClr val="0F172A"/>
                </a:solidFill>
                <a:latin typeface="Arial"/>
              </a:rPr>
              <a:t> </a:t>
            </a:r>
            <a:r>
              <a:rPr b="0" dirty="0" err="1">
                <a:solidFill>
                  <a:srgbClr val="0F172A"/>
                </a:solidFill>
                <a:latin typeface="Arial"/>
              </a:rPr>
              <a:t>tổng</a:t>
            </a:r>
            <a:r>
              <a:rPr b="0" dirty="0">
                <a:solidFill>
                  <a:srgbClr val="0F172A"/>
                </a:solidFill>
                <a:latin typeface="Arial"/>
              </a:rPr>
              <a:t> </a:t>
            </a:r>
            <a:r>
              <a:rPr b="0" dirty="0" err="1">
                <a:solidFill>
                  <a:srgbClr val="0F172A"/>
                </a:solidFill>
                <a:latin typeface="Arial"/>
              </a:rPr>
              <a:t>hợp</a:t>
            </a:r>
            <a:r>
              <a:rPr b="0" dirty="0">
                <a:solidFill>
                  <a:srgbClr val="0F172A"/>
                </a:solidFill>
                <a:latin typeface="Arial"/>
              </a:rPr>
              <a:t> slide </a:t>
            </a:r>
            <a:r>
              <a:rPr b="0" dirty="0" err="1">
                <a:solidFill>
                  <a:srgbClr val="0F172A"/>
                </a:solidFill>
                <a:latin typeface="Arial"/>
              </a:rPr>
              <a:t>báo</a:t>
            </a:r>
            <a:r>
              <a:rPr b="0" dirty="0">
                <a:solidFill>
                  <a:srgbClr val="0F172A"/>
                </a:solidFill>
                <a:latin typeface="Arial"/>
              </a:rPr>
              <a:t> </a:t>
            </a:r>
            <a:r>
              <a:rPr b="0" dirty="0" err="1">
                <a:solidFill>
                  <a:srgbClr val="0F172A"/>
                </a:solidFill>
                <a:latin typeface="Arial"/>
              </a:rPr>
              <a:t>cáo</a:t>
            </a:r>
            <a:r>
              <a:rPr lang="en-US" b="0" dirty="0">
                <a:solidFill>
                  <a:srgbClr val="0F172A"/>
                </a:solidFill>
                <a:latin typeface="Arial"/>
              </a:rPr>
              <a:t>.</a:t>
            </a:r>
            <a:endParaRPr b="0" dirty="0">
              <a:solidFill>
                <a:srgbClr val="0F172A"/>
              </a:solidFill>
              <a:latin typeface="Arial"/>
            </a:endParaRP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2 / 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1. KHẢO SÁT BÀI TOÁN &amp; PAPER</a:t>
            </a:r>
          </a:p>
          <a:p>
            <a:pPr>
              <a:defRPr sz="2100" b="1">
                <a:solidFill>
                  <a:srgbClr val="0F172A"/>
                </a:solidFill>
                <a:latin typeface="Arial"/>
              </a:defRPr>
            </a:pPr>
            <a:r>
              <a:t>Bài báo khoa học của Dean De Cock và Cuộc thi Kaggle</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Nguồn gốc dữ liệu: </a:t>
            </a:r>
            <a:r>
              <a:rPr sz="1200" b="0">
                <a:solidFill>
                  <a:srgbClr val="0F172A"/>
                </a:solidFill>
                <a:latin typeface="Arial"/>
              </a:rPr>
              <a:t>Tập dữ liệu Ames Housing do Giáo sư Dean De Cock thu thập từ năm 2006 đến 2010 tại thành phố Ames, bang Iowa.</a:t>
            </a:r>
          </a:p>
          <a:p>
            <a:pPr>
              <a:lnSpc>
                <a:spcPct val="122000"/>
              </a:lnSpc>
              <a:spcAft>
                <a:spcPts val="1200"/>
              </a:spcAft>
            </a:pPr>
            <a:r>
              <a:rPr sz="1200" b="1">
                <a:solidFill>
                  <a:srgbClr val="0F172A"/>
                </a:solidFill>
                <a:latin typeface="Arial"/>
              </a:rPr>
              <a:t>• Mục tiêu bài toán: </a:t>
            </a:r>
            <a:r>
              <a:rPr sz="1200" b="0">
                <a:solidFill>
                  <a:srgbClr val="0F172A"/>
                </a:solidFill>
                <a:latin typeface="Arial"/>
              </a:rPr>
              <a:t>Dự đoán giá bán nhà SalePrice dựa trên 79 đặc trưng mô tả kiến trúc và vị trí.</a:t>
            </a:r>
          </a:p>
          <a:p>
            <a:pPr>
              <a:lnSpc>
                <a:spcPct val="122000"/>
              </a:lnSpc>
              <a:spcAft>
                <a:spcPts val="1200"/>
              </a:spcAft>
            </a:pPr>
            <a:r>
              <a:rPr sz="1200" b="1">
                <a:solidFill>
                  <a:srgbClr val="0F172A"/>
                </a:solidFill>
                <a:latin typeface="Arial"/>
              </a:rPr>
              <a:t>• Bản chất bài toán: </a:t>
            </a:r>
            <a:r>
              <a:rPr sz="1200" b="0">
                <a:solidFill>
                  <a:srgbClr val="0F172A"/>
                </a:solidFill>
                <a:latin typeface="Arial"/>
              </a:rPr>
              <a:t>Học máy có giám sát dạng Hồi quy với biến mục tiêu là số thực liên tục.</a:t>
            </a:r>
          </a:p>
          <a:p>
            <a:pPr>
              <a:lnSpc>
                <a:spcPct val="122000"/>
              </a:lnSpc>
              <a:spcAft>
                <a:spcPts val="1200"/>
              </a:spcAft>
            </a:pPr>
            <a:r>
              <a:rPr sz="1200" b="1">
                <a:solidFill>
                  <a:srgbClr val="0F172A"/>
                </a:solidFill>
                <a:latin typeface="Arial"/>
              </a:rPr>
              <a:t>• Thước đo đánh giá: </a:t>
            </a:r>
            <a:r>
              <a:rPr sz="1200" b="0">
                <a:solidFill>
                  <a:srgbClr val="0F172A"/>
                </a:solidFill>
                <a:latin typeface="Arial"/>
              </a:rPr>
              <a:t>Căn bậc hai sai số toàn phương trung bình RMSE trên logarit giá nhà, giúp cân bằng mức phạt giữa nhà giá rẻ và nhà đắt tiền.</a:t>
            </a:r>
          </a:p>
          <a:p>
            <a:pPr>
              <a:lnSpc>
                <a:spcPct val="122000"/>
              </a:lnSpc>
              <a:spcAft>
                <a:spcPts val="1200"/>
              </a:spcAft>
            </a:pPr>
            <a:r>
              <a:rPr sz="1200" b="1">
                <a:solidFill>
                  <a:srgbClr val="0F172A"/>
                </a:solidFill>
                <a:latin typeface="Arial"/>
              </a:rPr>
              <a:t>• Ý nghĩa thực tiễn: </a:t>
            </a:r>
            <a:r>
              <a:rPr sz="1200" b="0">
                <a:solidFill>
                  <a:srgbClr val="0F172A"/>
                </a:solidFill>
                <a:latin typeface="Arial"/>
              </a:rPr>
              <a:t>Khắc phục các nhược điểm của tập dữ liệu Boston Housing cũ, phản ánh thị trường bất động sản hiện đại.</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dataset_overview.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Tổng quan bài toán hồi quy giá nhà</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3 / 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1. KHÁM PHÁ CẤU TRÚC</a:t>
            </a:r>
          </a:p>
          <a:p>
            <a:pPr>
              <a:defRPr sz="2100" b="1">
                <a:solidFill>
                  <a:srgbClr val="0F172A"/>
                </a:solidFill>
                <a:latin typeface="Arial"/>
              </a:defRPr>
            </a:pPr>
            <a:r>
              <a:t>Quy mô và Phân loại tính chất dữ liệu</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Quy mô dữ liệu: </a:t>
            </a:r>
            <a:r>
              <a:rPr sz="1200" b="0">
                <a:solidFill>
                  <a:srgbClr val="0F172A"/>
                </a:solidFill>
                <a:latin typeface="Arial"/>
              </a:rPr>
              <a:t>Tập huấn luyện Train gồm 1460 dòng và 81 cột; tập kiểm thử Test gồm 1459 dòng và 80 cột.</a:t>
            </a:r>
          </a:p>
          <a:p>
            <a:pPr>
              <a:lnSpc>
                <a:spcPct val="122000"/>
              </a:lnSpc>
              <a:spcAft>
                <a:spcPts val="1200"/>
              </a:spcAft>
            </a:pPr>
            <a:r>
              <a:rPr sz="1200" b="1">
                <a:solidFill>
                  <a:srgbClr val="0F172A"/>
                </a:solidFill>
                <a:latin typeface="Arial"/>
              </a:rPr>
              <a:t>• Phân loại kiểu dữ liệu: </a:t>
            </a:r>
            <a:r>
              <a:rPr sz="1200" b="0">
                <a:solidFill>
                  <a:srgbClr val="0F172A"/>
                </a:solidFill>
                <a:latin typeface="Arial"/>
              </a:rPr>
              <a:t>Gồm 35 cột số nguyên int64, 3 cột số thực float64 và 43 cột văn bản object.</a:t>
            </a:r>
          </a:p>
          <a:p>
            <a:pPr>
              <a:lnSpc>
                <a:spcPct val="122000"/>
              </a:lnSpc>
              <a:spcAft>
                <a:spcPts val="1200"/>
              </a:spcAft>
            </a:pPr>
            <a:r>
              <a:rPr sz="1200" b="1">
                <a:solidFill>
                  <a:srgbClr val="0F172A"/>
                </a:solidFill>
                <a:latin typeface="Arial"/>
              </a:rPr>
              <a:t>• Phân nhóm ngữ nghĩa: </a:t>
            </a:r>
            <a:r>
              <a:rPr sz="1200" b="0">
                <a:solidFill>
                  <a:srgbClr val="0F172A"/>
                </a:solidFill>
                <a:latin typeface="Arial"/>
              </a:rPr>
              <a:t>Biến định lượng diện tích, biến thời gian năm xây dựng, và biến phân loại chất lượng, khu vực.</a:t>
            </a:r>
          </a:p>
          <a:p>
            <a:pPr>
              <a:lnSpc>
                <a:spcPct val="122000"/>
              </a:lnSpc>
              <a:spcAft>
                <a:spcPts val="1200"/>
              </a:spcAft>
            </a:pPr>
            <a:r>
              <a:rPr sz="1200" b="1">
                <a:solidFill>
                  <a:srgbClr val="0F172A"/>
                </a:solidFill>
                <a:latin typeface="Arial"/>
              </a:rPr>
              <a:t>• Điểm lưu ý kỹ thuật: </a:t>
            </a:r>
            <a:r>
              <a:rPr sz="1200" b="0">
                <a:solidFill>
                  <a:srgbClr val="0F172A"/>
                </a:solidFill>
                <a:latin typeface="Arial"/>
              </a:rPr>
              <a:t>Cột MSSubClass lưu dưới dạng số nhưng bản chất là mã phân loại loại nhà, cần xử lý như biến định tính.</a:t>
            </a:r>
          </a:p>
          <a:p>
            <a:pPr>
              <a:lnSpc>
                <a:spcPct val="122000"/>
              </a:lnSpc>
              <a:spcAft>
                <a:spcPts val="1200"/>
              </a:spcAft>
            </a:pPr>
            <a:r>
              <a:rPr sz="1200" b="1">
                <a:solidFill>
                  <a:srgbClr val="0F172A"/>
                </a:solidFill>
                <a:latin typeface="Arial"/>
              </a:rPr>
              <a:t>• Biến mục tiêu: </a:t>
            </a:r>
            <a:r>
              <a:rPr sz="1200" b="0">
                <a:solidFill>
                  <a:srgbClr val="0F172A"/>
                </a:solidFill>
                <a:latin typeface="Arial"/>
              </a:rPr>
              <a:t>Cột SalePrice chỉ xuất hiện trong tập Train, dao động từ 34900 đến 755000 USD.</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dataset_overview.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Cấu trúc thuộc tính định lượng và định tính</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4 / 24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2. KIỂM TRA TRÙNG LẶP</a:t>
            </a:r>
          </a:p>
          <a:p>
            <a:pPr>
              <a:defRPr sz="2100" b="1">
                <a:solidFill>
                  <a:srgbClr val="0F172A"/>
                </a:solidFill>
                <a:latin typeface="Arial"/>
              </a:defRPr>
            </a:pPr>
            <a:r>
              <a:t>Kiểm tra tính toàn vẹn và trùng lặp dữ liệu</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Mục đích kiểm tra: </a:t>
            </a:r>
            <a:r>
              <a:rPr sz="1200" b="0">
                <a:solidFill>
                  <a:srgbClr val="0F172A"/>
                </a:solidFill>
                <a:latin typeface="Arial"/>
              </a:rPr>
              <a:t>Tránh hiện tượng trùng lặp bản ghi làm mô hình học thiên lệch hoặc đánh giá sai lệch hiệu năng.</a:t>
            </a:r>
          </a:p>
          <a:p>
            <a:pPr>
              <a:lnSpc>
                <a:spcPct val="122000"/>
              </a:lnSpc>
              <a:spcAft>
                <a:spcPts val="1200"/>
              </a:spcAft>
            </a:pPr>
            <a:r>
              <a:rPr sz="1200" b="1">
                <a:solidFill>
                  <a:srgbClr val="0F172A"/>
                </a:solidFill>
                <a:latin typeface="Arial"/>
              </a:rPr>
              <a:t>• Phương pháp thực hiện: </a:t>
            </a:r>
            <a:r>
              <a:rPr sz="1200" b="0">
                <a:solidFill>
                  <a:srgbClr val="0F172A"/>
                </a:solidFill>
                <a:latin typeface="Arial"/>
              </a:rPr>
              <a:t>Sử dụng hàm duplicated trên toàn bộ bảng và kiểm tra riêng trên cột khóa chính Id.</a:t>
            </a:r>
          </a:p>
          <a:p>
            <a:pPr>
              <a:lnSpc>
                <a:spcPct val="122000"/>
              </a:lnSpc>
              <a:spcAft>
                <a:spcPts val="1200"/>
              </a:spcAft>
            </a:pPr>
            <a:r>
              <a:rPr sz="1200" b="1">
                <a:solidFill>
                  <a:srgbClr val="0F172A"/>
                </a:solidFill>
                <a:latin typeface="Arial"/>
              </a:rPr>
              <a:t>• Kết quả tập Train: </a:t>
            </a:r>
            <a:r>
              <a:rPr sz="1200" b="0">
                <a:solidFill>
                  <a:srgbClr val="0F172A"/>
                </a:solidFill>
                <a:latin typeface="Arial"/>
              </a:rPr>
              <a:t>Phát hiện 0 dòng trùng lặp hoàn toàn và 0 mã Id bị trùng lặp.</a:t>
            </a:r>
          </a:p>
          <a:p>
            <a:pPr>
              <a:lnSpc>
                <a:spcPct val="122000"/>
              </a:lnSpc>
              <a:spcAft>
                <a:spcPts val="1200"/>
              </a:spcAft>
            </a:pPr>
            <a:r>
              <a:rPr sz="1200" b="1">
                <a:solidFill>
                  <a:srgbClr val="0F172A"/>
                </a:solidFill>
                <a:latin typeface="Arial"/>
              </a:rPr>
              <a:t>• Kết quả tập Test: </a:t>
            </a:r>
            <a:r>
              <a:rPr sz="1200" b="0">
                <a:solidFill>
                  <a:srgbClr val="0F172A"/>
                </a:solidFill>
                <a:latin typeface="Arial"/>
              </a:rPr>
              <a:t>Phát hiện 0 dòng trùng lặp hoàn toàn và 0 mã Id bị trùng lặp.</a:t>
            </a:r>
          </a:p>
          <a:p>
            <a:pPr>
              <a:lnSpc>
                <a:spcPct val="122000"/>
              </a:lnSpc>
              <a:spcAft>
                <a:spcPts val="1200"/>
              </a:spcAft>
            </a:pPr>
            <a:r>
              <a:rPr sz="1200" b="1">
                <a:solidFill>
                  <a:srgbClr val="0F172A"/>
                </a:solidFill>
                <a:latin typeface="Arial"/>
              </a:rPr>
              <a:t>• Kết luận: </a:t>
            </a:r>
            <a:r>
              <a:rPr sz="1200" b="0">
                <a:solidFill>
                  <a:srgbClr val="0F172A"/>
                </a:solidFill>
                <a:latin typeface="Arial"/>
              </a:rPr>
              <a:t>Cả hai tập dữ liệu đều đạt chuẩn toàn vẹn, mỗi dòng đại diện cho một căn nhà độc lập, chuyển thẳng sang bước kiểm tra giá trị thiếu.</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dataset_overview.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Kiểm tra tính toàn vẹn 0 dòng trùng lặp</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5 / 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3. XÁC ĐỊNH GIÁ TRỊ THIẾU</a:t>
            </a:r>
          </a:p>
          <a:p>
            <a:pPr>
              <a:defRPr sz="2100" b="1">
                <a:solidFill>
                  <a:srgbClr val="0F172A"/>
                </a:solidFill>
                <a:latin typeface="Arial"/>
              </a:defRPr>
            </a:pPr>
            <a:r>
              <a:t>Tổng quan và Phân loại giá trị thiếu trên tập Train</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Hiện trạng: </a:t>
            </a:r>
            <a:r>
              <a:rPr sz="1200" b="0">
                <a:solidFill>
                  <a:srgbClr val="0F172A"/>
                </a:solidFill>
                <a:latin typeface="Arial"/>
              </a:rPr>
              <a:t>Có 19 trên 81 cột chứa giá trị NA trong tập huấn luyện với mức độ thiếu chênh lệch rất lớn.</a:t>
            </a:r>
          </a:p>
          <a:p>
            <a:pPr>
              <a:lnSpc>
                <a:spcPct val="122000"/>
              </a:lnSpc>
              <a:spcAft>
                <a:spcPts val="1200"/>
              </a:spcAft>
            </a:pPr>
            <a:r>
              <a:rPr sz="1200" b="1">
                <a:solidFill>
                  <a:srgbClr val="0F172A"/>
                </a:solidFill>
                <a:latin typeface="Arial"/>
              </a:rPr>
              <a:t>• Top 5 cột thiếu nhiều nhất: </a:t>
            </a:r>
            <a:r>
              <a:rPr sz="1200" b="0">
                <a:solidFill>
                  <a:srgbClr val="0F172A"/>
                </a:solidFill>
                <a:latin typeface="Arial"/>
              </a:rPr>
              <a:t>Hồ bơi PoolQC thiếu 99.52%, Tính năng phụ MiscFeature thiếu 96.30%, Hẻm Alley thiếu 93.77%, Hàng rào Fence thiếu 80.75%, Lò sưởi FireplaceQu thiếu 47.26%.</a:t>
            </a:r>
          </a:p>
          <a:p>
            <a:pPr>
              <a:lnSpc>
                <a:spcPct val="122000"/>
              </a:lnSpc>
              <a:spcAft>
                <a:spcPts val="1200"/>
              </a:spcAft>
            </a:pPr>
            <a:r>
              <a:rPr sz="1200" b="1">
                <a:solidFill>
                  <a:srgbClr val="0F172A"/>
                </a:solidFill>
                <a:latin typeface="Arial"/>
              </a:rPr>
              <a:t>• Phát hiện cốt lõi: </a:t>
            </a:r>
            <a:r>
              <a:rPr sz="1200" b="0">
                <a:solidFill>
                  <a:srgbClr val="0F172A"/>
                </a:solidFill>
                <a:latin typeface="Arial"/>
              </a:rPr>
              <a:t>Phần lớn ký hiệu NA ở các cột này mang nghĩa là Ngôi nhà không có tiện ích đó, không phải lỗi mất mát dữ liệu ngẫu nhiên.</a:t>
            </a:r>
          </a:p>
          <a:p>
            <a:pPr>
              <a:lnSpc>
                <a:spcPct val="122000"/>
              </a:lnSpc>
              <a:spcAft>
                <a:spcPts val="1200"/>
              </a:spcAft>
            </a:pPr>
            <a:r>
              <a:rPr sz="1200" b="1">
                <a:solidFill>
                  <a:srgbClr val="0F172A"/>
                </a:solidFill>
                <a:latin typeface="Arial"/>
              </a:rPr>
              <a:t>• Lỗi nhận diện của Pandas: </a:t>
            </a:r>
            <a:r>
              <a:rPr sz="1200" b="0">
                <a:solidFill>
                  <a:srgbClr val="0F172A"/>
                </a:solidFill>
                <a:latin typeface="Arial"/>
              </a:rPr>
              <a:t>Tham số mặc định tự ép chuỗi None thành NaN, ví dụ cột MasVnrType có nhãn hợp lệ là None bị đếm nhầm thành thiếu 872 dòng.</a:t>
            </a:r>
          </a:p>
          <a:p>
            <a:pPr>
              <a:lnSpc>
                <a:spcPct val="122000"/>
              </a:lnSpc>
              <a:spcAft>
                <a:spcPts val="1200"/>
              </a:spcAft>
            </a:pPr>
            <a:r>
              <a:rPr sz="1200" b="1">
                <a:solidFill>
                  <a:srgbClr val="0F172A"/>
                </a:solidFill>
                <a:latin typeface="Arial"/>
              </a:rPr>
              <a:t>• Chiến lược: </a:t>
            </a:r>
            <a:r>
              <a:rPr sz="1200" b="0">
                <a:solidFill>
                  <a:srgbClr val="0F172A"/>
                </a:solidFill>
                <a:latin typeface="Arial"/>
              </a:rPr>
              <a:t>Dùng keep_default_na=False khi nạp dữ liệu để phân loại chính xác giữa không có tiện ích và thiếu thật.</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01_missing_bar.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Hình 1: Tỷ lệ giá trị thiếu theo từng cột (xanh: cấu trúc, đỏ: thiếu thật)</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6 / 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3. XÁC ĐỊNH GIÁ TRỊ THIẾU</a:t>
            </a:r>
          </a:p>
          <a:p>
            <a:pPr>
              <a:defRPr sz="2100" b="1">
                <a:solidFill>
                  <a:srgbClr val="0F172A"/>
                </a:solidFill>
                <a:latin typeface="Arial"/>
              </a:defRPr>
            </a:pPr>
            <a:r>
              <a:t>Khảo sát giá trị thiếu trên tập Test và Sự khác biệt</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Hiện trạng tập Test: </a:t>
            </a:r>
            <a:r>
              <a:rPr sz="1200" b="0">
                <a:solidFill>
                  <a:srgbClr val="0F172A"/>
                </a:solidFill>
                <a:latin typeface="Arial"/>
              </a:rPr>
              <a:t>Xuất hiện 33 cột có giá trị thiếu, phong phú hơn so với tập Train.</a:t>
            </a:r>
          </a:p>
          <a:p>
            <a:pPr>
              <a:lnSpc>
                <a:spcPct val="122000"/>
              </a:lnSpc>
              <a:spcAft>
                <a:spcPts val="1200"/>
              </a:spcAft>
            </a:pPr>
            <a:r>
              <a:rPr sz="1200" b="1">
                <a:solidFill>
                  <a:srgbClr val="0F172A"/>
                </a:solidFill>
                <a:latin typeface="Arial"/>
              </a:rPr>
              <a:t>• Các cột thiếu cấu trúc tương tự: </a:t>
            </a:r>
            <a:r>
              <a:rPr sz="1200" b="0">
                <a:solidFill>
                  <a:srgbClr val="0F172A"/>
                </a:solidFill>
                <a:latin typeface="Arial"/>
              </a:rPr>
              <a:t>Hồ bơi thiếu 99.79%, Tính năng phụ thiếu 96.50%, Lối đi hẻm thiếu 92.67%, Hàng rào thiếu 80.12%.</a:t>
            </a:r>
          </a:p>
          <a:p>
            <a:pPr>
              <a:lnSpc>
                <a:spcPct val="122000"/>
              </a:lnSpc>
              <a:spcAft>
                <a:spcPts val="1200"/>
              </a:spcAft>
            </a:pPr>
            <a:r>
              <a:rPr sz="1200" b="1">
                <a:solidFill>
                  <a:srgbClr val="0F172A"/>
                </a:solidFill>
                <a:latin typeface="Arial"/>
              </a:rPr>
              <a:t>• Ô thiếu lẻ phát sinh mới: </a:t>
            </a:r>
            <a:r>
              <a:rPr sz="1200" b="0">
                <a:solidFill>
                  <a:srgbClr val="0F172A"/>
                </a:solidFill>
                <a:latin typeface="Arial"/>
              </a:rPr>
              <a:t>Tập Test bị thiếu ở các cột quan trọng như MSZoning thiếu 4 dòng, Tiện ích Utilities thiếu 2 dòng, Chức năng Functional thiếu 2 dòng.</a:t>
            </a:r>
          </a:p>
          <a:p>
            <a:pPr>
              <a:lnSpc>
                <a:spcPct val="122000"/>
              </a:lnSpc>
              <a:spcAft>
                <a:spcPts val="1200"/>
              </a:spcAft>
            </a:pPr>
            <a:r>
              <a:rPr sz="1200" b="1">
                <a:solidFill>
                  <a:srgbClr val="0F172A"/>
                </a:solidFill>
                <a:latin typeface="Arial"/>
              </a:rPr>
              <a:t>• Thiếu ở tầng hầm và gara: </a:t>
            </a:r>
            <a:r>
              <a:rPr sz="1200" b="0">
                <a:solidFill>
                  <a:srgbClr val="0F172A"/>
                </a:solidFill>
                <a:latin typeface="Arial"/>
              </a:rPr>
              <a:t>Có 1 dòng thiếu diện tích hầm và 1 dòng thiếu số chỗ để xe gara.</a:t>
            </a:r>
          </a:p>
          <a:p>
            <a:pPr>
              <a:lnSpc>
                <a:spcPct val="122000"/>
              </a:lnSpc>
              <a:spcAft>
                <a:spcPts val="1200"/>
              </a:spcAft>
            </a:pPr>
            <a:r>
              <a:rPr sz="1200" b="1">
                <a:solidFill>
                  <a:srgbClr val="0F172A"/>
                </a:solidFill>
                <a:latin typeface="Arial"/>
              </a:rPr>
              <a:t>• Yêu cầu xử lý: </a:t>
            </a:r>
            <a:r>
              <a:rPr sz="1200" b="0">
                <a:solidFill>
                  <a:srgbClr val="0F172A"/>
                </a:solidFill>
                <a:latin typeface="Arial"/>
              </a:rPr>
              <a:t>Chiến lược điền dữ liệu phải bao quát toàn diện để mô hình có thể dự đoán tốt trên cả tập kiểm thử.</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11_cell5_5.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Tỷ lệ giá trị thiếu trên tập Test</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7 / 24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3. XÁC ĐỊNH GIÁ TRỊ THIẾU</a:t>
            </a:r>
          </a:p>
          <a:p>
            <a:pPr>
              <a:defRPr sz="2100" b="1">
                <a:solidFill>
                  <a:srgbClr val="0F172A"/>
                </a:solidFill>
                <a:latin typeface="Arial"/>
              </a:defRPr>
            </a:pPr>
            <a:r>
              <a:t>Ma trận quan sát mẫu thiếu đồng thời giữa các biến</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Tính quy luật theo khối: </a:t>
            </a:r>
            <a:r>
              <a:rPr sz="1200" b="0">
                <a:solidFill>
                  <a:srgbClr val="0F172A"/>
                </a:solidFill>
                <a:latin typeface="Arial"/>
              </a:rPr>
              <a:t>Biểu đồ nhiệt ma trận thiếu cho thấy các biến liên quan cùng xuất hiện ô trống trên cùng một nhóm dòng cụ thể.</a:t>
            </a:r>
          </a:p>
          <a:p>
            <a:pPr>
              <a:lnSpc>
                <a:spcPct val="122000"/>
              </a:lnSpc>
              <a:spcAft>
                <a:spcPts val="1200"/>
              </a:spcAft>
            </a:pPr>
            <a:r>
              <a:rPr sz="1200" b="1">
                <a:solidFill>
                  <a:srgbClr val="0F172A"/>
                </a:solidFill>
                <a:latin typeface="Arial"/>
              </a:rPr>
              <a:t>• Đặc trưng Gara: </a:t>
            </a:r>
            <a:r>
              <a:rPr sz="1200" b="0">
                <a:solidFill>
                  <a:srgbClr val="0F172A"/>
                </a:solidFill>
                <a:latin typeface="Arial"/>
              </a:rPr>
              <a:t>5 cột liên quan gồm GarageType, GarageYrBlt, GarageFinish, GarageQual, GarageCond cùng thiếu trên đúng 81 căn nhà có diện tích gara bằng 0.</a:t>
            </a:r>
          </a:p>
          <a:p>
            <a:pPr>
              <a:lnSpc>
                <a:spcPct val="122000"/>
              </a:lnSpc>
              <a:spcAft>
                <a:spcPts val="1200"/>
              </a:spcAft>
            </a:pPr>
            <a:r>
              <a:rPr sz="1200" b="1">
                <a:solidFill>
                  <a:srgbClr val="0F172A"/>
                </a:solidFill>
                <a:latin typeface="Arial"/>
              </a:rPr>
              <a:t>• Đặc trưng Tầng hầm: </a:t>
            </a:r>
            <a:r>
              <a:rPr sz="1200" b="0">
                <a:solidFill>
                  <a:srgbClr val="0F172A"/>
                </a:solidFill>
                <a:latin typeface="Arial"/>
              </a:rPr>
              <a:t>Các cột BsmtQual, BsmtCond, BsmtFinType1 cùng thiếu đồng thời trên khoảng 37 căn nhà có TotalBsmtSF bằng 0.</a:t>
            </a:r>
          </a:p>
          <a:p>
            <a:pPr>
              <a:lnSpc>
                <a:spcPct val="122000"/>
              </a:lnSpc>
              <a:spcAft>
                <a:spcPts val="1200"/>
              </a:spcAft>
            </a:pPr>
            <a:r>
              <a:rPr sz="1200" b="1">
                <a:solidFill>
                  <a:srgbClr val="0F172A"/>
                </a:solidFill>
                <a:latin typeface="Arial"/>
              </a:rPr>
              <a:t>• Trường hợp thiếu thật: </a:t>
            </a:r>
            <a:r>
              <a:rPr sz="1200" b="0">
                <a:solidFill>
                  <a:srgbClr val="0F172A"/>
                </a:solidFill>
                <a:latin typeface="Arial"/>
              </a:rPr>
              <a:t>Phát hiện 2 căn nhà có hầm nhưng thiếu 1 thuộc tính là BsmtExposure ở Id 949 và BsmtFinType2 ở Id 333.</a:t>
            </a:r>
          </a:p>
          <a:p>
            <a:pPr>
              <a:lnSpc>
                <a:spcPct val="122000"/>
              </a:lnSpc>
              <a:spcAft>
                <a:spcPts val="1200"/>
              </a:spcAft>
            </a:pPr>
            <a:r>
              <a:rPr sz="1200" b="1">
                <a:solidFill>
                  <a:srgbClr val="0F172A"/>
                </a:solidFill>
                <a:latin typeface="Arial"/>
              </a:rPr>
              <a:t>• Kết luận: </a:t>
            </a:r>
            <a:r>
              <a:rPr sz="1200" b="0">
                <a:solidFill>
                  <a:srgbClr val="0F172A"/>
                </a:solidFill>
                <a:latin typeface="Arial"/>
              </a:rPr>
              <a:t>Khẳng định NA là thuộc tính cấu trúc của căn nhà, giải pháp đúng đắn là thay NA bằng nhãn None riêng biệt.</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02_missing_matrix.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Hình 2: Ma trận giá trị thiếu theo dòng (đỏ là NA)</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8 / 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3. XÁC ĐỊNH GIÁ TRỊ THIẾU</a:t>
            </a:r>
          </a:p>
          <a:p>
            <a:pPr>
              <a:defRPr sz="2100" b="1">
                <a:solidFill>
                  <a:srgbClr val="0F172A"/>
                </a:solidFill>
                <a:latin typeface="Arial"/>
              </a:defRPr>
            </a:pPr>
            <a:r>
              <a:t>Phân tích chuyên sâu giá trị thiếu của LotFrontage</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Quy mô thiếu thật: </a:t>
            </a:r>
            <a:r>
              <a:rPr sz="1200" b="0">
                <a:solidFill>
                  <a:srgbClr val="0F172A"/>
                </a:solidFill>
                <a:latin typeface="Arial"/>
              </a:rPr>
              <a:t>Cột chiều dài mặt tiền LotFrontage thiếu 259 dòng, chiếm 17.74% tập Train, là cột thiếu thật lớn nhất.</a:t>
            </a:r>
          </a:p>
          <a:p>
            <a:pPr>
              <a:lnSpc>
                <a:spcPct val="122000"/>
              </a:lnSpc>
              <a:spcAft>
                <a:spcPts val="1200"/>
              </a:spcAft>
            </a:pPr>
            <a:r>
              <a:rPr sz="1200" b="1">
                <a:solidFill>
                  <a:srgbClr val="0F172A"/>
                </a:solidFill>
                <a:latin typeface="Arial"/>
              </a:rPr>
              <a:t>• Kiểm tra tính ngẫu nhiên: </a:t>
            </a:r>
            <a:r>
              <a:rPr sz="1200" b="0">
                <a:solidFill>
                  <a:srgbClr val="0F172A"/>
                </a:solidFill>
                <a:latin typeface="Arial"/>
              </a:rPr>
              <a:t>Dữ liệu thiếu không ngẫu nhiên mà phụ thuộc mạnh vào cấu hình lô đất và khu phố.</a:t>
            </a:r>
          </a:p>
          <a:p>
            <a:pPr>
              <a:lnSpc>
                <a:spcPct val="122000"/>
              </a:lnSpc>
              <a:spcAft>
                <a:spcPts val="1200"/>
              </a:spcAft>
            </a:pPr>
            <a:r>
              <a:rPr sz="1200" b="1">
                <a:solidFill>
                  <a:srgbClr val="0F172A"/>
                </a:solidFill>
                <a:latin typeface="Arial"/>
              </a:rPr>
              <a:t>• Tỷ lệ theo cấu hình đất: </a:t>
            </a:r>
            <a:r>
              <a:rPr sz="1200" b="0">
                <a:solidFill>
                  <a:srgbClr val="0F172A"/>
                </a:solidFill>
                <a:latin typeface="Arial"/>
              </a:rPr>
              <a:t>Nhà ở cuối đường cụt CulDSac thiếu 52.1%, nhà ở góc Corner thiếu 23.6%, nhà nằm trong dãy Inside chỉ thiếu 12.7%.</a:t>
            </a:r>
          </a:p>
          <a:p>
            <a:pPr>
              <a:lnSpc>
                <a:spcPct val="122000"/>
              </a:lnSpc>
              <a:spcAft>
                <a:spcPts val="1200"/>
              </a:spcAft>
            </a:pPr>
            <a:r>
              <a:rPr sz="1200" b="1">
                <a:solidFill>
                  <a:srgbClr val="0F172A"/>
                </a:solidFill>
                <a:latin typeface="Arial"/>
              </a:rPr>
              <a:t>• Mối liên hệ hình học: </a:t>
            </a:r>
            <a:r>
              <a:rPr sz="1200" b="0">
                <a:solidFill>
                  <a:srgbClr val="0F172A"/>
                </a:solidFill>
                <a:latin typeface="Arial"/>
              </a:rPr>
              <a:t>Chiều dài mặt tiền có hệ số tương quan đạt 0.60 với căn bậc hai diện tích thửa đất LotArea.</a:t>
            </a:r>
          </a:p>
          <a:p>
            <a:pPr>
              <a:lnSpc>
                <a:spcPct val="122000"/>
              </a:lnSpc>
              <a:spcAft>
                <a:spcPts val="1200"/>
              </a:spcAft>
            </a:pPr>
            <a:r>
              <a:rPr sz="1200" b="1">
                <a:solidFill>
                  <a:srgbClr val="0F172A"/>
                </a:solidFill>
                <a:latin typeface="Arial"/>
              </a:rPr>
              <a:t>• Kiểm định thống kê: </a:t>
            </a:r>
            <a:r>
              <a:rPr sz="1200" b="0">
                <a:solidFill>
                  <a:srgbClr val="0F172A"/>
                </a:solidFill>
                <a:latin typeface="Arial"/>
              </a:rPr>
              <a:t>Kiểm định Chi-square và Mann-Whitney đều cho p-value cực nhỏ, chứng minh sự khác biệt có ý nghĩa thống kê.</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03_lotfrontage.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Hình 3: Tỷ lệ thiếu LotFrontage theo Neighborhood, LotConfig và quan hệ với √LotArea</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9 / 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3. XÁC ĐỊNH GIÁ TRỊ THIẾU</a:t>
            </a:r>
          </a:p>
          <a:p>
            <a:pPr>
              <a:defRPr sz="2100" b="1">
                <a:solidFill>
                  <a:srgbClr val="0F172A"/>
                </a:solidFill>
                <a:latin typeface="Arial"/>
              </a:defRPr>
            </a:pPr>
            <a:r>
              <a:t>Thí nghiệm đánh giá 4 phương pháp điền cho LotFrontage</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Thiết kế thực nghiệm: </a:t>
            </a:r>
            <a:r>
              <a:rPr sz="1200" b="0">
                <a:solidFill>
                  <a:srgbClr val="0F172A"/>
                </a:solidFill>
                <a:latin typeface="Arial"/>
              </a:rPr>
              <a:t>Giấu ngẫu nhiên 20% dữ liệu đã biết, thử nghiệm 4 cách điền và đo sai số tuyệt đối trung bình MAE qua 30 lần lặp.</a:t>
            </a:r>
          </a:p>
          <a:p>
            <a:pPr>
              <a:lnSpc>
                <a:spcPct val="122000"/>
              </a:lnSpc>
              <a:spcAft>
                <a:spcPts val="1200"/>
              </a:spcAft>
            </a:pPr>
            <a:r>
              <a:rPr sz="1200" b="1">
                <a:solidFill>
                  <a:srgbClr val="0F172A"/>
                </a:solidFill>
                <a:latin typeface="Arial"/>
              </a:rPr>
              <a:t>• Phương pháp 1: </a:t>
            </a:r>
            <a:r>
              <a:rPr sz="1200" b="0">
                <a:solidFill>
                  <a:srgbClr val="0F172A"/>
                </a:solidFill>
                <a:latin typeface="Arial"/>
              </a:rPr>
              <a:t>Điền trung vị toàn cục cho sai số lớn nhất đạt 16.43 feet.</a:t>
            </a:r>
          </a:p>
          <a:p>
            <a:pPr>
              <a:lnSpc>
                <a:spcPct val="122000"/>
              </a:lnSpc>
              <a:spcAft>
                <a:spcPts val="1200"/>
              </a:spcAft>
            </a:pPr>
            <a:r>
              <a:rPr sz="1200" b="1">
                <a:solidFill>
                  <a:srgbClr val="0F172A"/>
                </a:solidFill>
                <a:latin typeface="Arial"/>
              </a:rPr>
              <a:t>• Phương pháp 2: </a:t>
            </a:r>
            <a:r>
              <a:rPr sz="1200" b="0">
                <a:solidFill>
                  <a:srgbClr val="0F172A"/>
                </a:solidFill>
                <a:latin typeface="Arial"/>
              </a:rPr>
              <a:t>Điền trung vị theo từng khu phố Neighborhood giảm sai số xuống 12.94 feet.</a:t>
            </a:r>
          </a:p>
          <a:p>
            <a:pPr>
              <a:lnSpc>
                <a:spcPct val="122000"/>
              </a:lnSpc>
              <a:spcAft>
                <a:spcPts val="1200"/>
              </a:spcAft>
            </a:pPr>
            <a:r>
              <a:rPr sz="1200" b="1">
                <a:solidFill>
                  <a:srgbClr val="0F172A"/>
                </a:solidFill>
                <a:latin typeface="Arial"/>
              </a:rPr>
              <a:t>• Phương pháp 3: </a:t>
            </a:r>
            <a:r>
              <a:rPr sz="1200" b="0">
                <a:solidFill>
                  <a:srgbClr val="0F172A"/>
                </a:solidFill>
                <a:latin typeface="Arial"/>
              </a:rPr>
              <a:t>Hồi quy tuyến tính theo căn bậc hai LotArea đạt sai số 12.47 feet.</a:t>
            </a:r>
          </a:p>
          <a:p>
            <a:pPr>
              <a:lnSpc>
                <a:spcPct val="122000"/>
              </a:lnSpc>
              <a:spcAft>
                <a:spcPts val="1200"/>
              </a:spcAft>
            </a:pPr>
            <a:r>
              <a:rPr sz="1200" b="1">
                <a:solidFill>
                  <a:srgbClr val="0F172A"/>
                </a:solidFill>
                <a:latin typeface="Arial"/>
              </a:rPr>
              <a:t>• Phương pháp 4: </a:t>
            </a:r>
            <a:r>
              <a:rPr sz="1200" b="0">
                <a:solidFill>
                  <a:srgbClr val="0F172A"/>
                </a:solidFill>
                <a:latin typeface="Arial"/>
              </a:rPr>
              <a:t>Điền trung vị theo nhóm Khu phố kết hợp Cấu hình đất đạt sai số tối ưu nhất là 12.35 feet, giảm 25% sai số so với cách thông thường.</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mae_imputation.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So sánh sai số tuyệt đối trung bình MAE giữa 4 phương pháp điền</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10 / 24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3. MẪU BẤT THƯỜNG</a:t>
            </a:r>
          </a:p>
          <a:p>
            <a:pPr>
              <a:defRPr sz="2100" b="1">
                <a:solidFill>
                  <a:srgbClr val="0F172A"/>
                </a:solidFill>
                <a:latin typeface="Arial"/>
              </a:defRPr>
            </a:pPr>
            <a:r>
              <a:t>Rà soát 20 quy tắc logic và các bất thường nhập liệu</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Quy chuẩn kiểm tra: </a:t>
            </a:r>
            <a:r>
              <a:rPr sz="1200" b="0">
                <a:solidFill>
                  <a:srgbClr val="0F172A"/>
                </a:solidFill>
                <a:latin typeface="Arial"/>
              </a:rPr>
              <a:t>Thiết lập 20 ràng buộc logic thực tế để đánh giá độ tin cậy của tập dữ liệu.</a:t>
            </a:r>
          </a:p>
          <a:p>
            <a:pPr>
              <a:lnSpc>
                <a:spcPct val="122000"/>
              </a:lnSpc>
              <a:spcAft>
                <a:spcPts val="1200"/>
              </a:spcAft>
            </a:pPr>
            <a:r>
              <a:rPr sz="1200" b="1">
                <a:solidFill>
                  <a:srgbClr val="0F172A"/>
                </a:solidFill>
                <a:latin typeface="Arial"/>
              </a:rPr>
              <a:t>• Kết quả kiểm tra: </a:t>
            </a:r>
            <a:r>
              <a:rPr sz="1200" b="0">
                <a:solidFill>
                  <a:srgbClr val="0F172A"/>
                </a:solidFill>
                <a:latin typeface="Arial"/>
              </a:rPr>
              <a:t>Có 11 quy tắc đạt tuyệt đối, bao gồm tính nhất quán về diện tích các tầng, hầm và gara.</a:t>
            </a:r>
          </a:p>
          <a:p>
            <a:pPr>
              <a:lnSpc>
                <a:spcPct val="122000"/>
              </a:lnSpc>
              <a:spcAft>
                <a:spcPts val="1200"/>
              </a:spcAft>
            </a:pPr>
            <a:r>
              <a:rPr sz="1200" b="1">
                <a:solidFill>
                  <a:srgbClr val="0F172A"/>
                </a:solidFill>
                <a:latin typeface="Arial"/>
              </a:rPr>
              <a:t>• Các vi phạm phát hiện: </a:t>
            </a:r>
            <a:r>
              <a:rPr sz="1200" b="0">
                <a:solidFill>
                  <a:srgbClr val="0F172A"/>
                </a:solidFill>
                <a:latin typeface="Arial"/>
              </a:rPr>
              <a:t>9 căn nhà có năm xây gara trước năm xây nhà; 7 căn khai báo không ốp đá nhưng diện tích ốp đá lớn hơn 0; 2 căn nhà 1 tầng nhưng có diện tích tầng 2.</a:t>
            </a:r>
          </a:p>
          <a:p>
            <a:pPr>
              <a:lnSpc>
                <a:spcPct val="122000"/>
              </a:lnSpc>
              <a:spcAft>
                <a:spcPts val="1200"/>
              </a:spcAft>
            </a:pPr>
            <a:r>
              <a:rPr sz="1200" b="1">
                <a:solidFill>
                  <a:srgbClr val="0F172A"/>
                </a:solidFill>
                <a:latin typeface="Arial"/>
              </a:rPr>
              <a:t>• Trường hợp đáng ngờ nhất: </a:t>
            </a:r>
            <a:r>
              <a:rPr sz="1200" b="0">
                <a:solidFill>
                  <a:srgbClr val="0F172A"/>
                </a:solidFill>
                <a:latin typeface="Arial"/>
              </a:rPr>
              <a:t>Căn nhà Id 524 có năm bán YrSold xảy ra trước năm hoàn thành cải tạo YearRemodAdd.</a:t>
            </a:r>
          </a:p>
          <a:p>
            <a:pPr>
              <a:lnSpc>
                <a:spcPct val="122000"/>
              </a:lnSpc>
              <a:spcAft>
                <a:spcPts val="1200"/>
              </a:spcAft>
            </a:pPr>
            <a:r>
              <a:rPr sz="1200" b="1">
                <a:solidFill>
                  <a:srgbClr val="0F172A"/>
                </a:solidFill>
                <a:latin typeface="Arial"/>
              </a:rPr>
              <a:t>• Biến gần như hằng số: </a:t>
            </a:r>
            <a:r>
              <a:rPr sz="1200" b="0">
                <a:solidFill>
                  <a:srgbClr val="0F172A"/>
                </a:solidFill>
                <a:latin typeface="Arial"/>
              </a:rPr>
              <a:t>Tiện ích Utilities chiếm 99.9% một mức, Đường Street chiếm 99.6% một mức, đề xuất loại bỏ khi chọn lọc đặc trưng.</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04_salecondition_nearconstant.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Hình 4: Phân phối SalePrice theo SaleCondition và biến gần như hằng số</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11 / 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4. XÁC ĐỊNH NGOẠI LỆ</a:t>
            </a:r>
          </a:p>
          <a:p>
            <a:pPr>
              <a:defRPr sz="2100" b="1">
                <a:solidFill>
                  <a:srgbClr val="0F172A"/>
                </a:solidFill>
                <a:latin typeface="Arial"/>
              </a:defRPr>
            </a:pPr>
            <a:r>
              <a:t>Khảo sát ngoại lệ đơn biến bằng Khoảng tứ phân vị IQR</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Phương pháp thực hiện: </a:t>
            </a:r>
            <a:r>
              <a:rPr sz="1200" b="0">
                <a:solidFill>
                  <a:srgbClr val="0F172A"/>
                </a:solidFill>
                <a:latin typeface="Arial"/>
              </a:rPr>
              <a:t>Áp dụng quy tắc khoảng tứ phân vị IQR với ngưỡng 1.5 lần IQR trên 6 biến định lượng liên tục then chốt.</a:t>
            </a:r>
          </a:p>
          <a:p>
            <a:pPr>
              <a:lnSpc>
                <a:spcPct val="122000"/>
              </a:lnSpc>
              <a:spcAft>
                <a:spcPts val="1200"/>
              </a:spcAft>
            </a:pPr>
            <a:r>
              <a:rPr sz="1200" b="1">
                <a:solidFill>
                  <a:srgbClr val="0F172A"/>
                </a:solidFill>
                <a:latin typeface="Arial"/>
              </a:rPr>
              <a:t>• Kết quả đếm ngoại lệ: </a:t>
            </a:r>
            <a:r>
              <a:rPr sz="1200" b="0">
                <a:solidFill>
                  <a:srgbClr val="0F172A"/>
                </a:solidFill>
                <a:latin typeface="Arial"/>
              </a:rPr>
              <a:t>Biến mục tiêu SalePrice có 61 điểm vượt rào trên 340038 USD; LotArea có 69 điểm; LotFrontage có 88 điểm; GrLivArea có 31 điểm.</a:t>
            </a:r>
          </a:p>
          <a:p>
            <a:pPr>
              <a:lnSpc>
                <a:spcPct val="122000"/>
              </a:lnSpc>
              <a:spcAft>
                <a:spcPts val="1200"/>
              </a:spcAft>
            </a:pPr>
            <a:r>
              <a:rPr sz="1200" b="1">
                <a:solidFill>
                  <a:srgbClr val="0F172A"/>
                </a:solidFill>
                <a:latin typeface="Arial"/>
              </a:rPr>
              <a:t>• Phân tích bản chất: </a:t>
            </a:r>
            <a:r>
              <a:rPr sz="1200" b="0">
                <a:solidFill>
                  <a:srgbClr val="0F172A"/>
                </a:solidFill>
                <a:latin typeface="Arial"/>
              </a:rPr>
              <a:t>Cần phân biệt giữa biến đuôi dài thật sự và biến zero-inflated có hơn 85% giá trị bằng 0 như PoolArea, ScreenPorch.</a:t>
            </a:r>
          </a:p>
          <a:p>
            <a:pPr>
              <a:lnSpc>
                <a:spcPct val="122000"/>
              </a:lnSpc>
              <a:spcAft>
                <a:spcPts val="1200"/>
              </a:spcAft>
            </a:pPr>
            <a:r>
              <a:rPr sz="1200" b="1">
                <a:solidFill>
                  <a:srgbClr val="0F172A"/>
                </a:solidFill>
                <a:latin typeface="Arial"/>
              </a:rPr>
              <a:t>• Đánh giá giá bán cao: </a:t>
            </a:r>
            <a:r>
              <a:rPr sz="1200" b="0">
                <a:solidFill>
                  <a:srgbClr val="0F172A"/>
                </a:solidFill>
                <a:latin typeface="Arial"/>
              </a:rPr>
              <a:t>Các căn nhà giá trên 340000 USD chủ yếu nằm tại các khu nhà giàu NoRidge và NridgHt, là giao dịch có thật trên thị trường.</a:t>
            </a:r>
          </a:p>
          <a:p>
            <a:pPr>
              <a:lnSpc>
                <a:spcPct val="122000"/>
              </a:lnSpc>
              <a:spcAft>
                <a:spcPts val="1200"/>
              </a:spcAft>
            </a:pPr>
            <a:r>
              <a:rPr sz="1200" b="1">
                <a:solidFill>
                  <a:srgbClr val="0F172A"/>
                </a:solidFill>
                <a:latin typeface="Arial"/>
              </a:rPr>
              <a:t>• Nguyên tắc xử lý: </a:t>
            </a:r>
            <a:r>
              <a:rPr sz="1200" b="0">
                <a:solidFill>
                  <a:srgbClr val="0F172A"/>
                </a:solidFill>
                <a:latin typeface="Arial"/>
              </a:rPr>
              <a:t>Không được vội vàng loại bỏ ngoại lệ đơn biến vì chúng phản ánh phân khúc nhà cao cấp có thật.</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06_boxplots.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Hình 6: Boxplot phát hiện ngoại lệ cho các biến liên tục</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20 / 24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4. XÁC ĐỊNH NGOẠI LỆ</a:t>
            </a:r>
          </a:p>
          <a:p>
            <a:pPr>
              <a:defRPr sz="2100" b="1">
                <a:solidFill>
                  <a:srgbClr val="0F172A"/>
                </a:solidFill>
                <a:latin typeface="Arial"/>
              </a:defRPr>
            </a:pPr>
            <a:r>
              <a:t>Phân tích ngoại lệ hai biến và Khuyến cáo từ Paper</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Khảo sát quan hệ GrLivArea và SalePrice: </a:t>
            </a:r>
            <a:r>
              <a:rPr sz="1200" b="0">
                <a:solidFill>
                  <a:srgbClr val="0F172A"/>
                </a:solidFill>
                <a:latin typeface="Arial"/>
              </a:rPr>
              <a:t>Đồ thị phân tán làm lộ rõ 4 căn nhà có diện tích sinh hoạt cực lớn vượt ngưỡng 4000 feet vuông.</a:t>
            </a:r>
          </a:p>
          <a:p>
            <a:pPr>
              <a:lnSpc>
                <a:spcPct val="122000"/>
              </a:lnSpc>
              <a:spcAft>
                <a:spcPts val="1200"/>
              </a:spcAft>
            </a:pPr>
            <a:r>
              <a:rPr sz="1200" b="1">
                <a:solidFill>
                  <a:srgbClr val="0F172A"/>
                </a:solidFill>
                <a:latin typeface="Arial"/>
              </a:rPr>
              <a:t>• Hai căn ngoại lệ dị biệt: </a:t>
            </a:r>
            <a:r>
              <a:rPr sz="1200" b="0">
                <a:solidFill>
                  <a:srgbClr val="0F172A"/>
                </a:solidFill>
                <a:latin typeface="Arial"/>
              </a:rPr>
              <a:t>Căn Id 524 diện tích 4676 sq ft và căn Id 1299 diện tích 5642 sq ft đều đạt chất lượng tối đa mức 10 nhưng giá bán chỉ từ 160000 đến 184750 USD.</a:t>
            </a:r>
          </a:p>
          <a:p>
            <a:pPr>
              <a:lnSpc>
                <a:spcPct val="122000"/>
              </a:lnSpc>
              <a:spcAft>
                <a:spcPts val="1200"/>
              </a:spcAft>
            </a:pPr>
            <a:r>
              <a:rPr sz="1200" b="1">
                <a:solidFill>
                  <a:srgbClr val="0F172A"/>
                </a:solidFill>
                <a:latin typeface="Arial"/>
              </a:rPr>
              <a:t>• Giải thích từ tác giả Dean De Cock: </a:t>
            </a:r>
            <a:r>
              <a:rPr sz="1200" b="0">
                <a:solidFill>
                  <a:srgbClr val="0F172A"/>
                </a:solidFill>
                <a:latin typeface="Arial"/>
              </a:rPr>
              <a:t>Cả hai căn nhà này đều thuộc hình thức bán Partial, tức là nhà mới chưa hoàn thiện bán thanh lý với giá giảm sâu bất thường.</a:t>
            </a:r>
          </a:p>
          <a:p>
            <a:pPr>
              <a:lnSpc>
                <a:spcPct val="122000"/>
              </a:lnSpc>
              <a:spcAft>
                <a:spcPts val="1200"/>
              </a:spcAft>
            </a:pPr>
            <a:r>
              <a:rPr sz="1200" b="1">
                <a:solidFill>
                  <a:srgbClr val="0F172A"/>
                </a:solidFill>
                <a:latin typeface="Arial"/>
              </a:rPr>
              <a:t>• Hai căn diện tích lớn hợp lệ: </a:t>
            </a:r>
            <a:r>
              <a:rPr sz="1200" b="0">
                <a:solidFill>
                  <a:srgbClr val="0F172A"/>
                </a:solidFill>
                <a:latin typeface="Arial"/>
              </a:rPr>
              <a:t>Căn Id 692 và Id 1183 có diện tích trên 4300 sq ft nhưng giá bán đạt xấp xỉ 750000 USD tại khu cao cấp NoRidge, nằm đúng đường xu hướng.</a:t>
            </a:r>
          </a:p>
          <a:p>
            <a:pPr>
              <a:lnSpc>
                <a:spcPct val="122000"/>
              </a:lnSpc>
              <a:spcAft>
                <a:spcPts val="1200"/>
              </a:spcAft>
            </a:pPr>
            <a:r>
              <a:rPr sz="1200" b="1">
                <a:solidFill>
                  <a:srgbClr val="0F172A"/>
                </a:solidFill>
                <a:latin typeface="Arial"/>
              </a:rPr>
              <a:t>• Quyết định: </a:t>
            </a:r>
            <a:r>
              <a:rPr sz="1200" b="0">
                <a:solidFill>
                  <a:srgbClr val="0F172A"/>
                </a:solidFill>
                <a:latin typeface="Arial"/>
              </a:rPr>
              <a:t>Cần loại bỏ đúng 2 căn Id 524 và 1299 để tránh làm méo mó độ dốc của mô hình hồi quy.</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07_scatter_outliers.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Hình 7: Ngoại lệ hai biến GrLivArea và SalePrice (đỏ: Id 524, 1299; cam: 692, 1183)</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21 / 24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4. XÁC ĐỊNH NGOẠI LỆ</a:t>
            </a:r>
          </a:p>
          <a:p>
            <a:pPr>
              <a:defRPr sz="2100" b="1">
                <a:solidFill>
                  <a:srgbClr val="0F172A"/>
                </a:solidFill>
                <a:latin typeface="Arial"/>
              </a:defRPr>
            </a:pPr>
            <a:r>
              <a:t>Đánh giá ngoại lệ đa biến và Thực nghiệm tác động</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Kiểm chứng đa phương pháp: </a:t>
            </a:r>
            <a:r>
              <a:rPr sz="1200" b="0">
                <a:solidFill>
                  <a:srgbClr val="0F172A"/>
                </a:solidFill>
                <a:latin typeface="Arial"/>
              </a:rPr>
              <a:t>Kết hợp Studentized Residual, khoảng cách Cook Distance và Isolation Forest; chỉ có đúng 2 căn Id 524 và 1299 bị cả 4 phương pháp cùng xác nhận.</a:t>
            </a:r>
          </a:p>
          <a:p>
            <a:pPr>
              <a:lnSpc>
                <a:spcPct val="122000"/>
              </a:lnSpc>
              <a:spcAft>
                <a:spcPts val="1200"/>
              </a:spcAft>
            </a:pPr>
            <a:r>
              <a:rPr sz="1200" b="1">
                <a:solidFill>
                  <a:srgbClr val="0F172A"/>
                </a:solidFill>
                <a:latin typeface="Arial"/>
              </a:rPr>
              <a:t>• Kịch bản 1 - Giữ nguyên 1460 dòng: </a:t>
            </a:r>
            <a:r>
              <a:rPr sz="1200" b="0">
                <a:solidFill>
                  <a:srgbClr val="0F172A"/>
                </a:solidFill>
                <a:latin typeface="Arial"/>
              </a:rPr>
              <a:t>Mô hình đạt R bình phương 0.8119, tương quan diện tích và giá đạt 0.7086.</a:t>
            </a:r>
          </a:p>
          <a:p>
            <a:pPr>
              <a:lnSpc>
                <a:spcPct val="122000"/>
              </a:lnSpc>
              <a:spcAft>
                <a:spcPts val="1200"/>
              </a:spcAft>
            </a:pPr>
            <a:r>
              <a:rPr sz="1200" b="1">
                <a:solidFill>
                  <a:srgbClr val="0F172A"/>
                </a:solidFill>
                <a:latin typeface="Arial"/>
              </a:rPr>
              <a:t>• Kịch bản 2 - Chỉ loại 2 căn thật Id 524 và 1299: </a:t>
            </a:r>
            <a:r>
              <a:rPr sz="1200" b="0">
                <a:solidFill>
                  <a:srgbClr val="0F172A"/>
                </a:solidFill>
                <a:latin typeface="Arial"/>
              </a:rPr>
              <a:t>R bình phương tăng vọt lên 0.8475, tương quan tăng mạnh lên 0.7350.</a:t>
            </a:r>
          </a:p>
          <a:p>
            <a:pPr>
              <a:lnSpc>
                <a:spcPct val="122000"/>
              </a:lnSpc>
              <a:spcAft>
                <a:spcPts val="1200"/>
              </a:spcAft>
            </a:pPr>
            <a:r>
              <a:rPr sz="1200" b="1">
                <a:solidFill>
                  <a:srgbClr val="0F172A"/>
                </a:solidFill>
                <a:latin typeface="Arial"/>
              </a:rPr>
              <a:t>• Kịch bản 3 - Loại cả 4 căn lớn hơn 4000 sq ft: </a:t>
            </a:r>
            <a:r>
              <a:rPr sz="1200" b="0">
                <a:solidFill>
                  <a:srgbClr val="0F172A"/>
                </a:solidFill>
                <a:latin typeface="Arial"/>
              </a:rPr>
              <a:t>R bình phương bị giảm nhẹ xuống 0.8445 do vô tình làm mất 2 mẫu nhà biệt thự hợp lệ.</a:t>
            </a:r>
          </a:p>
          <a:p>
            <a:pPr>
              <a:lnSpc>
                <a:spcPct val="122000"/>
              </a:lnSpc>
              <a:spcAft>
                <a:spcPts val="1200"/>
              </a:spcAft>
            </a:pPr>
            <a:r>
              <a:rPr sz="1200" b="1">
                <a:solidFill>
                  <a:srgbClr val="0F172A"/>
                </a:solidFill>
                <a:latin typeface="Arial"/>
              </a:rPr>
              <a:t>• Kết luận: </a:t>
            </a:r>
            <a:r>
              <a:rPr sz="1200" b="0">
                <a:solidFill>
                  <a:srgbClr val="0F172A"/>
                </a:solidFill>
                <a:latin typeface="Arial"/>
              </a:rPr>
              <a:t>Thực nghiệm chứng minh quyết định chỉ loại bỏ đúng 2 căn dị biệt là hoàn toàn chuẩn xác và tối ưu nhất cho mô hình.</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09_before_after.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Hình 9: Đường hồi quy log(SalePrice) theo GrLivArea trước và sau khi loại Id 524, 1299</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22 /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5. PHÂN TÍCH ĐƠN BIẾN</a:t>
            </a:r>
          </a:p>
          <a:p>
            <a:pPr>
              <a:defRPr sz="2100" b="1">
                <a:solidFill>
                  <a:srgbClr val="0F172A"/>
                </a:solidFill>
                <a:latin typeface="Arial"/>
              </a:defRPr>
            </a:pPr>
            <a:r>
              <a:t>Phân phối biến mục tiêu SalePrice trước và sau Log</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Thống kê mô tả: </a:t>
            </a:r>
            <a:r>
              <a:rPr sz="1200" b="0">
                <a:solidFill>
                  <a:srgbClr val="0F172A"/>
                </a:solidFill>
                <a:latin typeface="Arial"/>
              </a:rPr>
              <a:t>Giá bán dao động từ 34900 đến 755000 USD, trung vị 163000 USD, giá trung bình là 180921 USD.</a:t>
            </a:r>
          </a:p>
          <a:p>
            <a:pPr>
              <a:lnSpc>
                <a:spcPct val="122000"/>
              </a:lnSpc>
              <a:spcAft>
                <a:spcPts val="1200"/>
              </a:spcAft>
            </a:pPr>
            <a:r>
              <a:rPr sz="1200" b="1">
                <a:solidFill>
                  <a:srgbClr val="0F172A"/>
                </a:solidFill>
                <a:latin typeface="Arial"/>
              </a:rPr>
              <a:t>• Độ lệch phân phối: </a:t>
            </a:r>
            <a:r>
              <a:rPr sz="1200" b="0">
                <a:solidFill>
                  <a:srgbClr val="0F172A"/>
                </a:solidFill>
                <a:latin typeface="Arial"/>
              </a:rPr>
              <a:t>Dữ liệu bị lệch phải nặng với độ xiên skewness đạt 1.883 và độ nhọn kurtosis đạt 6.54.</a:t>
            </a:r>
          </a:p>
          <a:p>
            <a:pPr>
              <a:lnSpc>
                <a:spcPct val="122000"/>
              </a:lnSpc>
              <a:spcAft>
                <a:spcPts val="1200"/>
              </a:spcAft>
            </a:pPr>
            <a:r>
              <a:rPr sz="1200" b="1">
                <a:solidFill>
                  <a:srgbClr val="0F172A"/>
                </a:solidFill>
                <a:latin typeface="Arial"/>
              </a:rPr>
              <a:t>• Khoảng tập trung giá: </a:t>
            </a:r>
            <a:r>
              <a:rPr sz="1200" b="0">
                <a:solidFill>
                  <a:srgbClr val="0F172A"/>
                </a:solidFill>
                <a:latin typeface="Arial"/>
              </a:rPr>
              <a:t>50% căn nhà nằm trong phân khúc từ 129975 đến 214000 USD, đuôi dài kéo về phía biệt thự đắt tiền.</a:t>
            </a:r>
          </a:p>
          <a:p>
            <a:pPr>
              <a:lnSpc>
                <a:spcPct val="122000"/>
              </a:lnSpc>
              <a:spcAft>
                <a:spcPts val="1200"/>
              </a:spcAft>
            </a:pPr>
            <a:r>
              <a:rPr sz="1200" b="1">
                <a:solidFill>
                  <a:srgbClr val="0F172A"/>
                </a:solidFill>
                <a:latin typeface="Arial"/>
              </a:rPr>
              <a:t>• Xử lý chuẩn hóa: </a:t>
            </a:r>
            <a:r>
              <a:rPr sz="1200" b="0">
                <a:solidFill>
                  <a:srgbClr val="0F172A"/>
                </a:solidFill>
                <a:latin typeface="Arial"/>
              </a:rPr>
              <a:t>Áp dụng phép biến đổi logarit tự nhiên log1p(SalePrice).</a:t>
            </a:r>
          </a:p>
          <a:p>
            <a:pPr>
              <a:lnSpc>
                <a:spcPct val="122000"/>
              </a:lnSpc>
              <a:spcAft>
                <a:spcPts val="1200"/>
              </a:spcAft>
            </a:pPr>
            <a:r>
              <a:rPr sz="1200" b="1">
                <a:solidFill>
                  <a:srgbClr val="0F172A"/>
                </a:solidFill>
                <a:latin typeface="Arial"/>
              </a:rPr>
              <a:t>• Kết quả sau biến đổi: </a:t>
            </a:r>
            <a:r>
              <a:rPr sz="1200" b="0">
                <a:solidFill>
                  <a:srgbClr val="0F172A"/>
                </a:solidFill>
                <a:latin typeface="Arial"/>
              </a:rPr>
              <a:t>Độ xiên giảm mạnh từ 1.883 xuống còn 0.121, biểu đồ trở về dạng phân phối chuẩn đối xứng lý tưởng cho mô hình hồi quy.</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05_saleprice.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Hình 5: Phân phối và Boxplot của SalePrice trước và sau khi log</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12 / 24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5. PHÂN TÍCH ĐƠN BIẾN</a:t>
            </a:r>
          </a:p>
          <a:p>
            <a:pPr>
              <a:defRPr sz="2100" b="1">
                <a:solidFill>
                  <a:srgbClr val="0F172A"/>
                </a:solidFill>
                <a:latin typeface="Arial"/>
              </a:defRPr>
            </a:pPr>
            <a:r>
              <a:t>Phân phối các biến định lượng diện tích và năm xây dựng</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Diện tích đất LotArea: </a:t>
            </a:r>
            <a:r>
              <a:rPr sz="1200" b="0">
                <a:solidFill>
                  <a:srgbClr val="0F172A"/>
                </a:solidFill>
                <a:latin typeface="Arial"/>
              </a:rPr>
              <a:t>Đa số dưới 15000 feet vuông nhưng có các lô đất trang trại cực rộng trên 100000 feet vuông tạo đuôi lệch phải mạnh.</a:t>
            </a:r>
          </a:p>
          <a:p>
            <a:pPr>
              <a:lnSpc>
                <a:spcPct val="122000"/>
              </a:lnSpc>
              <a:spcAft>
                <a:spcPts val="1200"/>
              </a:spcAft>
            </a:pPr>
            <a:r>
              <a:rPr sz="1200" b="1">
                <a:solidFill>
                  <a:srgbClr val="0F172A"/>
                </a:solidFill>
                <a:latin typeface="Arial"/>
              </a:rPr>
              <a:t>• Diện tích sinh hoạt GrLivArea: </a:t>
            </a:r>
            <a:r>
              <a:rPr sz="1200" b="0">
                <a:solidFill>
                  <a:srgbClr val="0F172A"/>
                </a:solidFill>
                <a:latin typeface="Arial"/>
              </a:rPr>
              <a:t>Trung bình đạt 1515 feet vuông, tập trung dày đặc quanh mốc 1000 đến 2000 feet vuông.</a:t>
            </a:r>
          </a:p>
          <a:p>
            <a:pPr>
              <a:lnSpc>
                <a:spcPct val="122000"/>
              </a:lnSpc>
              <a:spcAft>
                <a:spcPts val="1200"/>
              </a:spcAft>
            </a:pPr>
            <a:r>
              <a:rPr sz="1200" b="1">
                <a:solidFill>
                  <a:srgbClr val="0F172A"/>
                </a:solidFill>
                <a:latin typeface="Arial"/>
              </a:rPr>
              <a:t>• Diện tích tầng hầm TotalBsmtSF: </a:t>
            </a:r>
            <a:r>
              <a:rPr sz="1200" b="0">
                <a:solidFill>
                  <a:srgbClr val="0F172A"/>
                </a:solidFill>
                <a:latin typeface="Arial"/>
              </a:rPr>
              <a:t>Đa số tập trung quanh 1000 feet vuông, có đỉnh nhọn ở mốc 0 đại diện cho các căn nhà không hầm.</a:t>
            </a:r>
          </a:p>
          <a:p>
            <a:pPr>
              <a:lnSpc>
                <a:spcPct val="122000"/>
              </a:lnSpc>
              <a:spcAft>
                <a:spcPts val="1200"/>
              </a:spcAft>
            </a:pPr>
            <a:r>
              <a:rPr sz="1200" b="1">
                <a:solidFill>
                  <a:srgbClr val="0F172A"/>
                </a:solidFill>
                <a:latin typeface="Arial"/>
              </a:rPr>
              <a:t>• Diện tích gara GarageArea: </a:t>
            </a:r>
            <a:r>
              <a:rPr sz="1200" b="0">
                <a:solidFill>
                  <a:srgbClr val="0F172A"/>
                </a:solidFill>
                <a:latin typeface="Arial"/>
              </a:rPr>
              <a:t>Trung bình đạt 473 feet vuông, tương ứng không gian đỗ từ 1 đến 2 xe ô tô tiêu chuẩn.</a:t>
            </a:r>
          </a:p>
          <a:p>
            <a:pPr>
              <a:lnSpc>
                <a:spcPct val="122000"/>
              </a:lnSpc>
              <a:spcAft>
                <a:spcPts val="1200"/>
              </a:spcAft>
            </a:pPr>
            <a:r>
              <a:rPr sz="1200" b="1">
                <a:solidFill>
                  <a:srgbClr val="0F172A"/>
                </a:solidFill>
                <a:latin typeface="Arial"/>
              </a:rPr>
              <a:t>• Năm xây dựng YearBuilt: </a:t>
            </a:r>
            <a:r>
              <a:rPr sz="1200" b="0">
                <a:solidFill>
                  <a:srgbClr val="0F172A"/>
                </a:solidFill>
                <a:latin typeface="Arial"/>
              </a:rPr>
              <a:t>Dữ liệu trải dài từ 1872 đến 2010, tăng vọt từ năm 1950 và đạt đỉnh bùng nổ xây dựng trong giai đoạn 2000 đến 2006.</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02_cell3_3.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Phân phối các biến định lượng diện tích then chốt</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13 / 24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5. PHÂN TÍCH ĐƠN BIẾN</a:t>
            </a:r>
          </a:p>
          <a:p>
            <a:pPr>
              <a:defRPr sz="2100" b="1">
                <a:solidFill>
                  <a:srgbClr val="0F172A"/>
                </a:solidFill>
                <a:latin typeface="Arial"/>
              </a:defRPr>
            </a:pPr>
            <a:r>
              <a:t>Phân phối tần suất các biến phân loại then chốt</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Chất lượng tổng thể OverallQual: </a:t>
            </a:r>
            <a:r>
              <a:rPr sz="1200" b="0">
                <a:solidFill>
                  <a:srgbClr val="0F172A"/>
                </a:solidFill>
                <a:latin typeface="Arial"/>
              </a:rPr>
              <a:t>Ba mức điểm 5, 6, 7 chiếm ưu thế tuyệt đối với 74.66% dữ liệu; mức chất lượng cực thấp 1 và 2 chỉ có 5 căn nhà.</a:t>
            </a:r>
          </a:p>
          <a:p>
            <a:pPr>
              <a:lnSpc>
                <a:spcPct val="122000"/>
              </a:lnSpc>
              <a:spcAft>
                <a:spcPts val="1200"/>
              </a:spcAft>
            </a:pPr>
            <a:r>
              <a:rPr sz="1200" b="1">
                <a:solidFill>
                  <a:srgbClr val="0F172A"/>
                </a:solidFill>
                <a:latin typeface="Arial"/>
              </a:rPr>
              <a:t>• Mã loại nhà MSSubClass: </a:t>
            </a:r>
            <a:r>
              <a:rPr sz="1200" b="0">
                <a:solidFill>
                  <a:srgbClr val="0F172A"/>
                </a:solidFill>
                <a:latin typeface="Arial"/>
              </a:rPr>
              <a:t>Mã 20 nhà 1 tầng kiểu mới chiếm 36.71%, mã 60 nhà 2 tầng kiểu mới chiếm 20.48%, mã 50 nhà 1.5 tầng chiếm 9.86%.</a:t>
            </a:r>
          </a:p>
          <a:p>
            <a:pPr>
              <a:lnSpc>
                <a:spcPct val="122000"/>
              </a:lnSpc>
              <a:spcAft>
                <a:spcPts val="1200"/>
              </a:spcAft>
            </a:pPr>
            <a:r>
              <a:rPr sz="1200" b="1">
                <a:solidFill>
                  <a:srgbClr val="0F172A"/>
                </a:solidFill>
                <a:latin typeface="Arial"/>
              </a:rPr>
              <a:t>• Kiểu kiến trúc HouseStyle: </a:t>
            </a:r>
            <a:r>
              <a:rPr sz="1200" b="0">
                <a:solidFill>
                  <a:srgbClr val="0F172A"/>
                </a:solidFill>
                <a:latin typeface="Arial"/>
              </a:rPr>
              <a:t>Nhà một tầng 1Story chiếm 49.73%, nhà hai tầng 2Story chiếm 30.48%, gom hai nhóm này đã chiếm hơn 80% thị trường.</a:t>
            </a:r>
          </a:p>
          <a:p>
            <a:pPr>
              <a:lnSpc>
                <a:spcPct val="122000"/>
              </a:lnSpc>
              <a:spcAft>
                <a:spcPts val="1200"/>
              </a:spcAft>
            </a:pPr>
            <a:r>
              <a:rPr sz="1200" b="1">
                <a:solidFill>
                  <a:srgbClr val="0F172A"/>
                </a:solidFill>
                <a:latin typeface="Arial"/>
              </a:rPr>
              <a:t>• Khu vực dân cư Neighborhood: </a:t>
            </a:r>
            <a:r>
              <a:rPr sz="1200" b="0">
                <a:solidFill>
                  <a:srgbClr val="0F172A"/>
                </a:solidFill>
                <a:latin typeface="Arial"/>
              </a:rPr>
              <a:t>Khu NAmes chiếm đông nhất với 15.41%, CollgCr chiếm 10.27%; một số khu rất ít quan sát như Blueste chỉ có 2 căn nhà.</a:t>
            </a:r>
          </a:p>
          <a:p>
            <a:pPr>
              <a:lnSpc>
                <a:spcPct val="122000"/>
              </a:lnSpc>
              <a:spcAft>
                <a:spcPts val="1200"/>
              </a:spcAft>
            </a:pPr>
            <a:r>
              <a:rPr sz="1200" b="1">
                <a:solidFill>
                  <a:srgbClr val="0F172A"/>
                </a:solidFill>
                <a:latin typeface="Arial"/>
              </a:rPr>
              <a:t>• Đánh giá: </a:t>
            </a:r>
            <a:r>
              <a:rPr sz="1200" b="0">
                <a:solidFill>
                  <a:srgbClr val="0F172A"/>
                </a:solidFill>
                <a:latin typeface="Arial"/>
              </a:rPr>
              <a:t>Dữ liệu phân bố không đồng đều giữa các nhóm, cần lưu ý khi mã hóa biến phân loại.</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03_cell3_12.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Tần suất xuất hiện các biến phân loại chính</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14 / 24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6. PHÂN TÍCH ĐA BIẾN</a:t>
            </a:r>
          </a:p>
          <a:p>
            <a:pPr>
              <a:defRPr sz="2100" b="1">
                <a:solidFill>
                  <a:srgbClr val="0F172A"/>
                </a:solidFill>
                <a:latin typeface="Arial"/>
              </a:defRPr>
            </a:pPr>
            <a:r>
              <a:t>Ma trận hệ số tương quan giữa các biến số với Giá nhà</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Top đặc trưng tương quan Pearson mạnh nhất với SalePrice: </a:t>
            </a:r>
          </a:p>
          <a:p>
            <a:pPr>
              <a:lnSpc>
                <a:spcPct val="122000"/>
              </a:lnSpc>
              <a:spcAft>
                <a:spcPts val="1200"/>
              </a:spcAft>
            </a:pPr>
            <a:r>
              <a:rPr sz="1200" b="1">
                <a:solidFill>
                  <a:srgbClr val="0F172A"/>
                </a:solidFill>
                <a:latin typeface="Arial"/>
              </a:rPr>
              <a:t>• 1. Chất lượng tổng thể OverallQual: </a:t>
            </a:r>
            <a:r>
              <a:rPr sz="1200" b="0">
                <a:solidFill>
                  <a:srgbClr val="0F172A"/>
                </a:solidFill>
                <a:latin typeface="Arial"/>
              </a:rPr>
              <a:t>tương quan cực mạnh đạt 0.791.</a:t>
            </a:r>
          </a:p>
          <a:p>
            <a:pPr>
              <a:lnSpc>
                <a:spcPct val="122000"/>
              </a:lnSpc>
              <a:spcAft>
                <a:spcPts val="1200"/>
              </a:spcAft>
            </a:pPr>
            <a:r>
              <a:rPr sz="1200" b="1">
                <a:solidFill>
                  <a:srgbClr val="0F172A"/>
                </a:solidFill>
                <a:latin typeface="Arial"/>
              </a:rPr>
              <a:t>• 2. Diện tích sinh hoạt GrLivArea: </a:t>
            </a:r>
            <a:r>
              <a:rPr sz="1200" b="0">
                <a:solidFill>
                  <a:srgbClr val="0F172A"/>
                </a:solidFill>
                <a:latin typeface="Arial"/>
              </a:rPr>
              <a:t>tương quan mạnh đạt 0.709.</a:t>
            </a:r>
          </a:p>
          <a:p>
            <a:pPr>
              <a:lnSpc>
                <a:spcPct val="122000"/>
              </a:lnSpc>
              <a:spcAft>
                <a:spcPts val="1200"/>
              </a:spcAft>
            </a:pPr>
            <a:r>
              <a:rPr sz="1200" b="1">
                <a:solidFill>
                  <a:srgbClr val="0F172A"/>
                </a:solidFill>
                <a:latin typeface="Arial"/>
              </a:rPr>
              <a:t>• 3. Sức chứa gara GarageCars: </a:t>
            </a:r>
            <a:r>
              <a:rPr sz="1200" b="0">
                <a:solidFill>
                  <a:srgbClr val="0F172A"/>
                </a:solidFill>
                <a:latin typeface="Arial"/>
              </a:rPr>
              <a:t>tương quan đạt 0.640 và diện tích gara GarageArea đạt 0.623.</a:t>
            </a:r>
          </a:p>
          <a:p>
            <a:pPr>
              <a:lnSpc>
                <a:spcPct val="122000"/>
              </a:lnSpc>
              <a:spcAft>
                <a:spcPts val="1200"/>
              </a:spcAft>
            </a:pPr>
            <a:r>
              <a:rPr sz="1200" b="1">
                <a:solidFill>
                  <a:srgbClr val="0F172A"/>
                </a:solidFill>
                <a:latin typeface="Arial"/>
              </a:rPr>
              <a:t>• 4. Diện tích tầng hầm TotalBsmtSF: </a:t>
            </a:r>
            <a:r>
              <a:rPr sz="1200" b="0">
                <a:solidFill>
                  <a:srgbClr val="0F172A"/>
                </a:solidFill>
                <a:latin typeface="Arial"/>
              </a:rPr>
              <a:t>tương quan đạt 0.614 và diện tích tầng một 1stFlrSF đạt 0.606.</a:t>
            </a:r>
          </a:p>
          <a:p>
            <a:pPr>
              <a:lnSpc>
                <a:spcPct val="122000"/>
              </a:lnSpc>
              <a:spcAft>
                <a:spcPts val="1200"/>
              </a:spcAft>
            </a:pPr>
            <a:r>
              <a:rPr sz="1200" b="1">
                <a:solidFill>
                  <a:srgbClr val="0F172A"/>
                </a:solidFill>
                <a:latin typeface="Arial"/>
              </a:rPr>
              <a:t>• Nguy cơ đa cộng tuyến: </a:t>
            </a:r>
            <a:r>
              <a:rPr sz="1200" b="0">
                <a:solidFill>
                  <a:srgbClr val="0F172A"/>
                </a:solidFill>
                <a:latin typeface="Arial"/>
              </a:rPr>
              <a:t>Cặp GarageCars và GarageArea có tương quan 0.88; cặp TotalBsmtSF và 1stFlrSF tương quan 0.82, cần cân nhắc gộp biến khi mô hình hóa.</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04_cell4_1.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Ma trận tương quan giữa top đặc trưng và SalePrice</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15 / 24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6. PHÂN TÍCH ĐA BIẾN</a:t>
            </a:r>
          </a:p>
          <a:p>
            <a:pPr>
              <a:defRPr sz="2100" b="1">
                <a:solidFill>
                  <a:srgbClr val="0F172A"/>
                </a:solidFill>
                <a:latin typeface="Arial"/>
              </a:defRPr>
            </a:pPr>
            <a:r>
              <a:t>Quan hệ giữa Diện tích, Năm xây dựng và Giá bán</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Phân tích GrLivArea và Giá bán: </a:t>
            </a:r>
            <a:r>
              <a:rPr sz="1200" b="0">
                <a:solidFill>
                  <a:srgbClr val="0F172A"/>
                </a:solidFill>
                <a:latin typeface="Arial"/>
              </a:rPr>
              <a:t>Mối quan hệ đồng biến rõ rệt, diện tích sinh hoạt càng lớn thì giá bán càng cao.</a:t>
            </a:r>
          </a:p>
          <a:p>
            <a:pPr>
              <a:lnSpc>
                <a:spcPct val="122000"/>
              </a:lnSpc>
              <a:spcAft>
                <a:spcPts val="1200"/>
              </a:spcAft>
            </a:pPr>
            <a:r>
              <a:rPr sz="1200" b="1">
                <a:solidFill>
                  <a:srgbClr val="0F172A"/>
                </a:solidFill>
                <a:latin typeface="Arial"/>
              </a:rPr>
              <a:t>• Tác động đa chiều của Chất lượng: </a:t>
            </a:r>
            <a:r>
              <a:rPr sz="1200" b="0">
                <a:solidFill>
                  <a:srgbClr val="0F172A"/>
                </a:solidFill>
                <a:latin typeface="Arial"/>
              </a:rPr>
              <a:t>Khi tô màu theo OverallQual, các căn nhà chất lượng cao điểm 8 đến 10 luôn nằm ở tầng giá cao vượt trội.</a:t>
            </a:r>
          </a:p>
          <a:p>
            <a:pPr>
              <a:lnSpc>
                <a:spcPct val="122000"/>
              </a:lnSpc>
              <a:spcAft>
                <a:spcPts val="1200"/>
              </a:spcAft>
            </a:pPr>
            <a:r>
              <a:rPr sz="1200" b="1">
                <a:solidFill>
                  <a:srgbClr val="0F172A"/>
                </a:solidFill>
                <a:latin typeface="Arial"/>
              </a:rPr>
              <a:t>• Tác động của Tầng hầm: </a:t>
            </a:r>
            <a:r>
              <a:rPr sz="1200" b="0">
                <a:solidFill>
                  <a:srgbClr val="0F172A"/>
                </a:solidFill>
                <a:latin typeface="Arial"/>
              </a:rPr>
              <a:t>TotalBsmtSF cũng cho xu hướng tăng đồng biến, các căn nhà không hầm tập trung ở đáy biểu đồ.</a:t>
            </a:r>
          </a:p>
          <a:p>
            <a:pPr>
              <a:lnSpc>
                <a:spcPct val="122000"/>
              </a:lnSpc>
              <a:spcAft>
                <a:spcPts val="1200"/>
              </a:spcAft>
            </a:pPr>
            <a:r>
              <a:rPr sz="1200" b="1">
                <a:solidFill>
                  <a:srgbClr val="0F172A"/>
                </a:solidFill>
                <a:latin typeface="Arial"/>
              </a:rPr>
              <a:t>• Tác động của Năm xây dựng: </a:t>
            </a:r>
            <a:r>
              <a:rPr sz="1200" b="0">
                <a:solidFill>
                  <a:srgbClr val="0F172A"/>
                </a:solidFill>
                <a:latin typeface="Arial"/>
              </a:rPr>
              <a:t>Nhà xây dựng sau năm 2000 có mức giá sàn cao hơn hẳn so với nhà xây từ nửa đầu thế kỷ 20.</a:t>
            </a:r>
          </a:p>
          <a:p>
            <a:pPr>
              <a:lnSpc>
                <a:spcPct val="122000"/>
              </a:lnSpc>
              <a:spcAft>
                <a:spcPts val="1200"/>
              </a:spcAft>
            </a:pPr>
            <a:r>
              <a:rPr sz="1200" b="1">
                <a:solidFill>
                  <a:srgbClr val="0F172A"/>
                </a:solidFill>
                <a:latin typeface="Arial"/>
              </a:rPr>
              <a:t>• Nhận định: </a:t>
            </a:r>
            <a:r>
              <a:rPr sz="1200" b="0">
                <a:solidFill>
                  <a:srgbClr val="0F172A"/>
                </a:solidFill>
                <a:latin typeface="Arial"/>
              </a:rPr>
              <a:t>Diện tích tạo nên khung giá cơ bản, còn chất lượng vật liệu và thời điểm xây dựng quyết định mức giá tối đa.</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05_cell4_2.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Đồ thị phân tán GrLivArea, TotalBsmtSF với Giá bán</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16 / 24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6. PHÂN TÍCH ĐA BIẾN</a:t>
            </a:r>
          </a:p>
          <a:p>
            <a:pPr>
              <a:defRPr sz="2100" b="1">
                <a:solidFill>
                  <a:srgbClr val="0F172A"/>
                </a:solidFill>
                <a:latin typeface="Arial"/>
              </a:defRPr>
            </a:pPr>
            <a:r>
              <a:t>Mức độ phân tầng giá nhà theo Chất lượng tổng thể</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Mối quan hệ phi tuyến tính: </a:t>
            </a:r>
            <a:r>
              <a:rPr sz="1200" b="0">
                <a:solidFill>
                  <a:srgbClr val="0F172A"/>
                </a:solidFill>
                <a:latin typeface="Arial"/>
              </a:rPr>
              <a:t>Biểu đồ hộp thể hiện giá bán tăng theo cấp số nhân khi điểm chất lượng OverallQual tăng từ mức 1 đến 10.</a:t>
            </a:r>
          </a:p>
          <a:p>
            <a:pPr>
              <a:lnSpc>
                <a:spcPct val="122000"/>
              </a:lnSpc>
              <a:spcAft>
                <a:spcPts val="1200"/>
              </a:spcAft>
            </a:pPr>
            <a:r>
              <a:rPr sz="1200" b="1">
                <a:solidFill>
                  <a:srgbClr val="0F172A"/>
                </a:solidFill>
                <a:latin typeface="Arial"/>
              </a:rPr>
              <a:t>• Mức giá trung vị theo thang điểm: </a:t>
            </a:r>
            <a:r>
              <a:rPr sz="1200" b="0">
                <a:solidFill>
                  <a:srgbClr val="0F172A"/>
                </a:solidFill>
                <a:latin typeface="Arial"/>
              </a:rPr>
              <a:t>Mức 5 có trung vị giá 133000 USD; mức 7 tăng lên 200000 USD; mức 10 đạt trung vị trên 430000 USD.</a:t>
            </a:r>
          </a:p>
          <a:p>
            <a:pPr>
              <a:lnSpc>
                <a:spcPct val="122000"/>
              </a:lnSpc>
              <a:spcAft>
                <a:spcPts val="1200"/>
              </a:spcAft>
            </a:pPr>
            <a:r>
              <a:rPr sz="1200" b="1">
                <a:solidFill>
                  <a:srgbClr val="0F172A"/>
                </a:solidFill>
                <a:latin typeface="Arial"/>
              </a:rPr>
              <a:t>• Độ phân tán giá: </a:t>
            </a:r>
            <a:r>
              <a:rPr sz="1200" b="0">
                <a:solidFill>
                  <a:srgbClr val="0F172A"/>
                </a:solidFill>
                <a:latin typeface="Arial"/>
              </a:rPr>
              <a:t>Ở các thang điểm thấp từ 1 đến 6, giá nhà dao động trong biên độ hẹp; từ mức 8 trở lên, biên độ giá giãn rộng đáng kể.</a:t>
            </a:r>
          </a:p>
          <a:p>
            <a:pPr>
              <a:lnSpc>
                <a:spcPct val="122000"/>
              </a:lnSpc>
              <a:spcAft>
                <a:spcPts val="1200"/>
              </a:spcAft>
            </a:pPr>
            <a:r>
              <a:rPr sz="1200" b="1">
                <a:solidFill>
                  <a:srgbClr val="0F172A"/>
                </a:solidFill>
                <a:latin typeface="Arial"/>
              </a:rPr>
              <a:t>• Điểm ngoại lệ trong nhóm: </a:t>
            </a:r>
            <a:r>
              <a:rPr sz="1200" b="0">
                <a:solidFill>
                  <a:srgbClr val="0F172A"/>
                </a:solidFill>
                <a:latin typeface="Arial"/>
              </a:rPr>
              <a:t>Xuất hiện một số căn nhà chất lượng mức 10 nhưng giá bán chỉ ở mức trung bình, sẽ được đào sâu ở phần ngoại lệ.</a:t>
            </a:r>
          </a:p>
          <a:p>
            <a:pPr>
              <a:lnSpc>
                <a:spcPct val="122000"/>
              </a:lnSpc>
              <a:spcAft>
                <a:spcPts val="1200"/>
              </a:spcAft>
            </a:pPr>
            <a:r>
              <a:rPr sz="1200" b="1">
                <a:solidFill>
                  <a:srgbClr val="0F172A"/>
                </a:solidFill>
                <a:latin typeface="Arial"/>
              </a:rPr>
              <a:t>• Kết luận: </a:t>
            </a:r>
            <a:r>
              <a:rPr sz="1200" b="0">
                <a:solidFill>
                  <a:srgbClr val="0F172A"/>
                </a:solidFill>
                <a:latin typeface="Arial"/>
              </a:rPr>
              <a:t>OverallQual là biến số giải thích quan trọng hàng đầu trong toàn bộ tập dữ liệu.</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06_cell4_3.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Phân bố giá bán theo từng bậc chất lượng OverallQual</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17 / 24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6. PHÂN TÍCH ĐA BIẾN</a:t>
            </a:r>
          </a:p>
          <a:p>
            <a:pPr>
              <a:defRPr sz="2100" b="1">
                <a:solidFill>
                  <a:srgbClr val="0F172A"/>
                </a:solidFill>
                <a:latin typeface="Arial"/>
              </a:defRPr>
            </a:pPr>
            <a:r>
              <a:t>Sự phân hóa giá bán theo Vị trí địa lý Neighborhood</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Phân tầng thị trường theo khu vực: </a:t>
            </a:r>
            <a:r>
              <a:rPr sz="1200" b="0">
                <a:solidFill>
                  <a:srgbClr val="0F172A"/>
                </a:solidFill>
                <a:latin typeface="Arial"/>
              </a:rPr>
              <a:t>Giá nhà thể hiện sự phân hóa sâu sắc theo từng vị trí khu dân cư tại Ames.</a:t>
            </a:r>
          </a:p>
          <a:p>
            <a:pPr>
              <a:lnSpc>
                <a:spcPct val="122000"/>
              </a:lnSpc>
              <a:spcAft>
                <a:spcPts val="1200"/>
              </a:spcAft>
            </a:pPr>
            <a:r>
              <a:rPr sz="1200" b="1">
                <a:solidFill>
                  <a:srgbClr val="0F172A"/>
                </a:solidFill>
                <a:latin typeface="Arial"/>
              </a:rPr>
              <a:t>• Top khu vực đắt giá nhất: </a:t>
            </a:r>
            <a:r>
              <a:rPr sz="1200" b="0">
                <a:solidFill>
                  <a:srgbClr val="0F172A"/>
                </a:solidFill>
                <a:latin typeface="Arial"/>
              </a:rPr>
              <a:t>NridgHt có trung vị 315000 USD, NoRidge đạt 301500 USD, StoneBr đạt 278000 USD.</a:t>
            </a:r>
          </a:p>
          <a:p>
            <a:pPr>
              <a:lnSpc>
                <a:spcPct val="122000"/>
              </a:lnSpc>
              <a:spcAft>
                <a:spcPts val="1200"/>
              </a:spcAft>
            </a:pPr>
            <a:r>
              <a:rPr sz="1200" b="1">
                <a:solidFill>
                  <a:srgbClr val="0F172A"/>
                </a:solidFill>
                <a:latin typeface="Arial"/>
              </a:rPr>
              <a:t>• Khu vực giá trung bình: </a:t>
            </a:r>
            <a:r>
              <a:rPr sz="1200" b="0">
                <a:solidFill>
                  <a:srgbClr val="0F172A"/>
                </a:solidFill>
                <a:latin typeface="Arial"/>
              </a:rPr>
              <a:t>CollgCr đạt 197200 USD, Crawford đạt 200624 USD, Gilbert đạt 181000 USD.</a:t>
            </a:r>
          </a:p>
          <a:p>
            <a:pPr>
              <a:lnSpc>
                <a:spcPct val="122000"/>
              </a:lnSpc>
              <a:spcAft>
                <a:spcPts val="1200"/>
              </a:spcAft>
            </a:pPr>
            <a:r>
              <a:rPr sz="1200" b="1">
                <a:solidFill>
                  <a:srgbClr val="0F172A"/>
                </a:solidFill>
                <a:latin typeface="Arial"/>
              </a:rPr>
              <a:t>• Khu vực bình dân nhất: </a:t>
            </a:r>
            <a:r>
              <a:rPr sz="1200" b="0">
                <a:solidFill>
                  <a:srgbClr val="0F172A"/>
                </a:solidFill>
                <a:latin typeface="Arial"/>
              </a:rPr>
              <a:t>MeadowV có trung vị 88000 USD, IDOTRR đạt 103000 USD, BrDale đạt 106000 USD.</a:t>
            </a:r>
          </a:p>
          <a:p>
            <a:pPr>
              <a:lnSpc>
                <a:spcPct val="122000"/>
              </a:lnSpc>
              <a:spcAft>
                <a:spcPts val="1200"/>
              </a:spcAft>
            </a:pPr>
            <a:r>
              <a:rPr sz="1200" b="1">
                <a:solidFill>
                  <a:srgbClr val="0F172A"/>
                </a:solidFill>
                <a:latin typeface="Arial"/>
              </a:rPr>
              <a:t>• Khoảng cách chênh lệch: </a:t>
            </a:r>
            <a:r>
              <a:rPr sz="1200" b="0">
                <a:solidFill>
                  <a:srgbClr val="0F172A"/>
                </a:solidFill>
                <a:latin typeface="Arial"/>
              </a:rPr>
              <a:t>Mức chênh lệch trung vị giữa khu đắt nhất và rẻ nhất lên đến 227000 USD, khẳng định vị trí là yếu tố trọng yếu.</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07_cell4_4.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Biên độ giá nhà theo 25 khu vực Neighborhood</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18 / 24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6. PHÂN TÍCH ĐA BIẾN</a:t>
            </a:r>
          </a:p>
          <a:p>
            <a:pPr>
              <a:defRPr sz="2100" b="1">
                <a:solidFill>
                  <a:srgbClr val="0F172A"/>
                </a:solidFill>
                <a:latin typeface="Arial"/>
              </a:defRPr>
            </a:pPr>
            <a:r>
              <a:t>Tác động cộng hưởng giữa Chất lượng và Sức chứa Gara</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Khảo sát kết hợp hai biến: </a:t>
            </a:r>
            <a:r>
              <a:rPr sz="1200" b="0">
                <a:solidFill>
                  <a:srgbClr val="0F172A"/>
                </a:solidFill>
                <a:latin typeface="Arial"/>
              </a:rPr>
              <a:t>Biểu đồ nhiệt thể hiện giá bán trung vị khi kết hợp đồng thời thang điểm OverallQual và số chỗ đỗ xe GarageCars.</a:t>
            </a:r>
          </a:p>
          <a:p>
            <a:pPr>
              <a:lnSpc>
                <a:spcPct val="122000"/>
              </a:lnSpc>
              <a:spcAft>
                <a:spcPts val="1200"/>
              </a:spcAft>
            </a:pPr>
            <a:r>
              <a:rPr sz="1200" b="1">
                <a:solidFill>
                  <a:srgbClr val="0F172A"/>
                </a:solidFill>
                <a:latin typeface="Arial"/>
              </a:rPr>
              <a:t>• Tác động cộng hưởng: </a:t>
            </a:r>
            <a:r>
              <a:rPr sz="1200" b="0">
                <a:solidFill>
                  <a:srgbClr val="0F172A"/>
                </a:solidFill>
                <a:latin typeface="Arial"/>
              </a:rPr>
              <a:t>Cùng mức chất lượng 10, nhà có gara 3 xe đạt trung vị 445365 USD, trong khi nhà gara 2 xe chỉ đạt 242500 USD.</a:t>
            </a:r>
          </a:p>
          <a:p>
            <a:pPr>
              <a:lnSpc>
                <a:spcPct val="122000"/>
              </a:lnSpc>
              <a:spcAft>
                <a:spcPts val="1200"/>
              </a:spcAft>
            </a:pPr>
            <a:r>
              <a:rPr sz="1200" b="1">
                <a:solidFill>
                  <a:srgbClr val="0F172A"/>
                </a:solidFill>
                <a:latin typeface="Arial"/>
              </a:rPr>
              <a:t>• Nhà phân khúc phổ thông: </a:t>
            </a:r>
            <a:r>
              <a:rPr sz="1200" b="0">
                <a:solidFill>
                  <a:srgbClr val="0F172A"/>
                </a:solidFill>
                <a:latin typeface="Arial"/>
              </a:rPr>
              <a:t>Ở mức chất lượng 6, giá nhà tăng đều từ 111250 USD khi không có gara lên 173000 USD khi có gara 2 xe và 214000 USD với gara 3 xe.</a:t>
            </a:r>
          </a:p>
          <a:p>
            <a:pPr>
              <a:lnSpc>
                <a:spcPct val="122000"/>
              </a:lnSpc>
              <a:spcAft>
                <a:spcPts val="1200"/>
              </a:spcAft>
            </a:pPr>
            <a:r>
              <a:rPr sz="1200" b="1">
                <a:solidFill>
                  <a:srgbClr val="0F172A"/>
                </a:solidFill>
                <a:latin typeface="Arial"/>
              </a:rPr>
              <a:t>• Quan sát ô trống: </a:t>
            </a:r>
            <a:r>
              <a:rPr sz="1200" b="0">
                <a:solidFill>
                  <a:srgbClr val="0F172A"/>
                </a:solidFill>
                <a:latin typeface="Arial"/>
              </a:rPr>
              <a:t>Không tồn tại các căn nhà chất lượng thấp mức 1 đến 3 có gara 3 hoặc 4 xe, thể hiện tính thực tế của kiến trúc xây dựng.</a:t>
            </a:r>
          </a:p>
          <a:p>
            <a:pPr>
              <a:lnSpc>
                <a:spcPct val="122000"/>
              </a:lnSpc>
              <a:spcAft>
                <a:spcPts val="1200"/>
              </a:spcAft>
            </a:pPr>
            <a:r>
              <a:rPr sz="1200" b="1">
                <a:solidFill>
                  <a:srgbClr val="0F172A"/>
                </a:solidFill>
                <a:latin typeface="Arial"/>
              </a:rPr>
              <a:t>• Ý nghĩa: </a:t>
            </a:r>
            <a:r>
              <a:rPr sz="1200" b="0">
                <a:solidFill>
                  <a:srgbClr val="0F172A"/>
                </a:solidFill>
                <a:latin typeface="Arial"/>
              </a:rPr>
              <a:t>Bổ sung bằng chứng đa chiều cho thấy các tiện ích cao cấp thường xuất hiện đồng thời trên các căn nhà giá trị cao.</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08_cell4_6.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Tương tác 2 chiều giữa OverallQual và GarageCars</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19 / 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7. ĐỘ CÂN BẰNG NHÃN</a:t>
            </a:r>
          </a:p>
          <a:p>
            <a:pPr>
              <a:defRPr sz="2100" b="1">
                <a:solidFill>
                  <a:srgbClr val="0F172A"/>
                </a:solidFill>
                <a:latin typeface="Arial"/>
              </a:defRPr>
            </a:pPr>
            <a:r>
              <a:t>Kiểm tra độ cân bằng phân bố của Nhãn mục tiêu</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Đặc trưng bài toán: </a:t>
            </a:r>
            <a:r>
              <a:rPr sz="1200" b="0">
                <a:solidFill>
                  <a:srgbClr val="0F172A"/>
                </a:solidFill>
                <a:latin typeface="Arial"/>
              </a:rPr>
              <a:t>Trong bài toán hồi quy, kiểm tra cân bằng nhãn là đánh giá sự phân bố số lượng mẫu qua các phân khúc giá bán.</a:t>
            </a:r>
          </a:p>
          <a:p>
            <a:pPr>
              <a:lnSpc>
                <a:spcPct val="122000"/>
              </a:lnSpc>
              <a:spcAft>
                <a:spcPts val="1200"/>
              </a:spcAft>
            </a:pPr>
            <a:r>
              <a:rPr sz="1200" b="1">
                <a:solidFill>
                  <a:srgbClr val="0F172A"/>
                </a:solidFill>
                <a:latin typeface="Arial"/>
              </a:rPr>
              <a:t>• Thống kê phân khúc: </a:t>
            </a:r>
            <a:r>
              <a:rPr sz="1200" b="0">
                <a:solidFill>
                  <a:srgbClr val="0F172A"/>
                </a:solidFill>
                <a:latin typeface="Arial"/>
              </a:rPr>
              <a:t>Nhóm nhà dưới 150000 USD có 615 căn chiếm 42.12%; nhóm từ 150000 đến 300000 USD có 717 căn chiếm 49.11%.</a:t>
            </a:r>
          </a:p>
          <a:p>
            <a:pPr>
              <a:lnSpc>
                <a:spcPct val="122000"/>
              </a:lnSpc>
              <a:spcAft>
                <a:spcPts val="1200"/>
              </a:spcAft>
            </a:pPr>
            <a:r>
              <a:rPr sz="1200" b="1">
                <a:solidFill>
                  <a:srgbClr val="0F172A"/>
                </a:solidFill>
                <a:latin typeface="Arial"/>
              </a:rPr>
              <a:t>• Mất cân bằng ở phân khúc cao: </a:t>
            </a:r>
            <a:r>
              <a:rPr sz="1200" b="0">
                <a:solidFill>
                  <a:srgbClr val="0F172A"/>
                </a:solidFill>
                <a:latin typeface="Arial"/>
              </a:rPr>
              <a:t>Nhóm nhà trên 300000 USD chỉ có 128 căn chiếm 8.77%; nhóm biệt thự trên 500000 USD chỉ có đúng 9 căn nhà chiếm 0.62%.</a:t>
            </a:r>
          </a:p>
          <a:p>
            <a:pPr>
              <a:lnSpc>
                <a:spcPct val="122000"/>
              </a:lnSpc>
              <a:spcAft>
                <a:spcPts val="1200"/>
              </a:spcAft>
            </a:pPr>
            <a:r>
              <a:rPr sz="1200" b="1">
                <a:solidFill>
                  <a:srgbClr val="0F172A"/>
                </a:solidFill>
                <a:latin typeface="Arial"/>
              </a:rPr>
              <a:t>• Nguy cơ đối với học máy: </a:t>
            </a:r>
            <a:r>
              <a:rPr sz="1200" b="0">
                <a:solidFill>
                  <a:srgbClr val="0F172A"/>
                </a:solidFill>
                <a:latin typeface="Arial"/>
              </a:rPr>
              <a:t>Hơn 91% mẫu tập trung ở phân khúc phổ thông khiến thuật toán dễ bị thiên vị, dự đoán sai lệch lớn ở nhóm giá cao.</a:t>
            </a:r>
          </a:p>
          <a:p>
            <a:pPr>
              <a:lnSpc>
                <a:spcPct val="122000"/>
              </a:lnSpc>
              <a:spcAft>
                <a:spcPts val="1200"/>
              </a:spcAft>
            </a:pPr>
            <a:r>
              <a:rPr sz="1200" b="1">
                <a:solidFill>
                  <a:srgbClr val="0F172A"/>
                </a:solidFill>
                <a:latin typeface="Arial"/>
              </a:rPr>
              <a:t>• Giải pháp triệt để: </a:t>
            </a:r>
            <a:r>
              <a:rPr sz="1200" b="0">
                <a:solidFill>
                  <a:srgbClr val="0F172A"/>
                </a:solidFill>
                <a:latin typeface="Arial"/>
              </a:rPr>
              <a:t>Biến đổi logarit tự nhiên đưa dữ liệu về phân phối chuẩn đối xứng, giải quyết trọn vẹn hiện tượng lệch nhãn trước khi huấn luyện.</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price_tiers.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Thống kê phân bố số lượng mẫu theo 4 phân khúc giá</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23 / 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8655" cy="868680"/>
          </a:xfrm>
          <a:prstGeom prst="rect">
            <a:avLst/>
          </a:prstGeom>
          <a:noFill/>
        </p:spPr>
        <p:txBody>
          <a:bodyPr wrap="square">
            <a:spAutoFit/>
          </a:bodyPr>
          <a:lstStyle/>
          <a:p>
            <a:pPr>
              <a:spcAft>
                <a:spcPts val="400"/>
              </a:spcAft>
              <a:defRPr sz="1000" b="1">
                <a:solidFill>
                  <a:srgbClr val="1E3A8A"/>
                </a:solidFill>
                <a:latin typeface="Arial"/>
              </a:defRPr>
            </a:pPr>
            <a:r>
              <a:t>TỔNG KẾT &amp; KẾ HOẠCH</a:t>
            </a:r>
          </a:p>
          <a:p>
            <a:pPr>
              <a:defRPr sz="2100" b="1">
                <a:solidFill>
                  <a:srgbClr val="0F172A"/>
                </a:solidFill>
                <a:latin typeface="Arial"/>
              </a:defRPr>
            </a:pPr>
            <a:r>
              <a:t>Tổng kết phát hiện EDA và Kế hoạch Tiền xử lý dữ liệu</a:t>
            </a:r>
          </a:p>
        </p:txBody>
      </p:sp>
      <p:sp>
        <p:nvSpPr>
          <p:cNvPr id="4" name="Rectangle 3"/>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36192"/>
            <a:ext cx="5943600" cy="4480560"/>
          </a:xfrm>
          <a:prstGeom prst="rect">
            <a:avLst/>
          </a:prstGeom>
          <a:noFill/>
        </p:spPr>
        <p:txBody>
          <a:bodyPr wrap="square">
            <a:spAutoFit/>
          </a:bodyPr>
          <a:lstStyle/>
          <a:p>
            <a:pPr>
              <a:lnSpc>
                <a:spcPct val="122000"/>
              </a:lnSpc>
              <a:spcAft>
                <a:spcPts val="1200"/>
              </a:spcAft>
            </a:pPr>
            <a:r>
              <a:rPr sz="1200" b="1">
                <a:solidFill>
                  <a:srgbClr val="0F172A"/>
                </a:solidFill>
                <a:latin typeface="Arial"/>
              </a:rPr>
              <a:t>• 1. Xử lý giá trị thiếu: </a:t>
            </a:r>
            <a:r>
              <a:rPr sz="1200" b="0">
                <a:solidFill>
                  <a:srgbClr val="0F172A"/>
                </a:solidFill>
                <a:latin typeface="Arial"/>
              </a:rPr>
              <a:t>Điền giá trị None cho các biến phân loại cấu trúc; điền LotFrontage theo nhóm Khu phố kết hợp Cấu hình đất.</a:t>
            </a:r>
          </a:p>
          <a:p>
            <a:pPr>
              <a:lnSpc>
                <a:spcPct val="122000"/>
              </a:lnSpc>
              <a:spcAft>
                <a:spcPts val="1200"/>
              </a:spcAft>
            </a:pPr>
            <a:r>
              <a:rPr sz="1200" b="1">
                <a:solidFill>
                  <a:srgbClr val="0F172A"/>
                </a:solidFill>
                <a:latin typeface="Arial"/>
              </a:rPr>
              <a:t>• 2. Xử lý ngoại lệ: </a:t>
            </a:r>
            <a:r>
              <a:rPr sz="1200" b="0">
                <a:solidFill>
                  <a:srgbClr val="0F172A"/>
                </a:solidFill>
                <a:latin typeface="Arial"/>
              </a:rPr>
              <a:t>Loại bỏ đúng 2 căn nhà dị biệt Id 524 và Id 1299 khỏi tập huấn luyện theo khuyến cáo của Dean De Cock.</a:t>
            </a:r>
          </a:p>
          <a:p>
            <a:pPr>
              <a:lnSpc>
                <a:spcPct val="122000"/>
              </a:lnSpc>
              <a:spcAft>
                <a:spcPts val="1200"/>
              </a:spcAft>
            </a:pPr>
            <a:r>
              <a:rPr sz="1200" b="1">
                <a:solidFill>
                  <a:srgbClr val="0F172A"/>
                </a:solidFill>
                <a:latin typeface="Arial"/>
              </a:rPr>
              <a:t>• 3. Biến đổi dữ liệu: </a:t>
            </a:r>
            <a:r>
              <a:rPr sz="1200" b="0">
                <a:solidFill>
                  <a:srgbClr val="0F172A"/>
                </a:solidFill>
                <a:latin typeface="Arial"/>
              </a:rPr>
              <a:t>Áp dụng biến đổi logarit tự nhiên cho biến mục tiêu SalePrice và các biến diện tích có độ lệch cao.</a:t>
            </a:r>
          </a:p>
          <a:p>
            <a:pPr>
              <a:lnSpc>
                <a:spcPct val="122000"/>
              </a:lnSpc>
              <a:spcAft>
                <a:spcPts val="1200"/>
              </a:spcAft>
            </a:pPr>
            <a:r>
              <a:rPr sz="1200" b="1">
                <a:solidFill>
                  <a:srgbClr val="0F172A"/>
                </a:solidFill>
                <a:latin typeface="Arial"/>
              </a:rPr>
              <a:t>• 4. Kỹ nghệ đặc trưng: </a:t>
            </a:r>
            <a:r>
              <a:rPr sz="1200" b="0">
                <a:solidFill>
                  <a:srgbClr val="0F172A"/>
                </a:solidFill>
                <a:latin typeface="Arial"/>
              </a:rPr>
              <a:t>Tạo biến tổng diện tích TotalSqFeet gộp các tầng; mã hóa thứ bậc cho các thang điểm chất lượng.</a:t>
            </a:r>
          </a:p>
          <a:p>
            <a:pPr>
              <a:lnSpc>
                <a:spcPct val="122000"/>
              </a:lnSpc>
              <a:spcAft>
                <a:spcPts val="1200"/>
              </a:spcAft>
            </a:pPr>
            <a:r>
              <a:rPr sz="1200" b="1">
                <a:solidFill>
                  <a:srgbClr val="0F172A"/>
                </a:solidFill>
                <a:latin typeface="Arial"/>
              </a:rPr>
              <a:t>• 5. Định hướng mô hình: </a:t>
            </a:r>
            <a:r>
              <a:rPr sz="1200" b="0">
                <a:solidFill>
                  <a:srgbClr val="0F172A"/>
                </a:solidFill>
                <a:latin typeface="Arial"/>
              </a:rPr>
              <a:t>Sẵn sàng dữ liệu sạch để triển khai các thuật toán hồi quy Ridge, Lasso, Random Forest và XGBoost.</a:t>
            </a:r>
          </a:p>
        </p:txBody>
      </p:sp>
      <p:sp>
        <p:nvSpPr>
          <p:cNvPr id="6" name="Rounded Rectangle 5"/>
          <p:cNvSpPr/>
          <p:nvPr/>
        </p:nvSpPr>
        <p:spPr>
          <a:xfrm>
            <a:off x="6903720" y="1536192"/>
            <a:ext cx="4553712"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dataset_overview.png"/>
          <p:cNvPicPr>
            <a:picLocks noChangeAspect="1"/>
          </p:cNvPicPr>
          <p:nvPr/>
        </p:nvPicPr>
        <p:blipFill>
          <a:blip r:embed="rId2"/>
          <a:stretch>
            <a:fillRect/>
          </a:stretch>
        </p:blipFill>
        <p:spPr>
          <a:xfrm>
            <a:off x="6995160" y="1627632"/>
            <a:ext cx="4370832" cy="4114800"/>
          </a:xfrm>
          <a:prstGeom prst="rect">
            <a:avLst/>
          </a:prstGeom>
        </p:spPr>
      </p:pic>
      <p:sp>
        <p:nvSpPr>
          <p:cNvPr id="8" name="TextBox 7"/>
          <p:cNvSpPr txBox="1"/>
          <p:nvPr/>
        </p:nvSpPr>
        <p:spPr>
          <a:xfrm>
            <a:off x="6903720" y="5870448"/>
            <a:ext cx="4553712" cy="320040"/>
          </a:xfrm>
          <a:prstGeom prst="rect">
            <a:avLst/>
          </a:prstGeom>
          <a:noFill/>
        </p:spPr>
        <p:txBody>
          <a:bodyPr wrap="none">
            <a:spAutoFit/>
          </a:bodyPr>
          <a:lstStyle/>
          <a:p>
            <a:pPr algn="ctr">
              <a:defRPr sz="950" i="1">
                <a:solidFill>
                  <a:srgbClr val="64748B"/>
                </a:solidFill>
                <a:latin typeface="Arial"/>
              </a:defRPr>
            </a:pPr>
            <a:r>
              <a:t>Lộ trình tiền xử lý dữ liệu và xây dựng mô hình</a:t>
            </a:r>
          </a:p>
        </p:txBody>
      </p:sp>
      <p:sp>
        <p:nvSpPr>
          <p:cNvPr id="9" name="Rectangle 8"/>
          <p:cNvSpPr/>
          <p:nvPr/>
        </p:nvSpPr>
        <p:spPr>
          <a:xfrm>
            <a:off x="731520" y="629107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6355080"/>
            <a:ext cx="7315200" cy="320040"/>
          </a:xfrm>
          <a:prstGeom prst="rect">
            <a:avLst/>
          </a:prstGeom>
          <a:noFill/>
        </p:spPr>
        <p:txBody>
          <a:bodyPr wrap="none">
            <a:spAutoFit/>
          </a:bodyPr>
          <a:lstStyle/>
          <a:p>
            <a:pPr>
              <a:defRPr sz="950">
                <a:solidFill>
                  <a:srgbClr val="94A3B8"/>
                </a:solidFill>
                <a:latin typeface="Arial"/>
              </a:defRPr>
            </a:pPr>
            <a:r>
              <a:t>Báo cáo phân tích khám phá dữ liệu (EDA) — Đề tài Ames Housing</a:t>
            </a:r>
          </a:p>
        </p:txBody>
      </p:sp>
      <p:sp>
        <p:nvSpPr>
          <p:cNvPr id="11" name="TextBox 10"/>
          <p:cNvSpPr txBox="1"/>
          <p:nvPr/>
        </p:nvSpPr>
        <p:spPr>
          <a:xfrm>
            <a:off x="8229600" y="6355080"/>
            <a:ext cx="3230575" cy="320040"/>
          </a:xfrm>
          <a:prstGeom prst="rect">
            <a:avLst/>
          </a:prstGeom>
          <a:noFill/>
        </p:spPr>
        <p:txBody>
          <a:bodyPr wrap="none">
            <a:spAutoFit/>
          </a:bodyPr>
          <a:lstStyle/>
          <a:p>
            <a:pPr algn="r">
              <a:defRPr sz="950">
                <a:solidFill>
                  <a:srgbClr val="94A3B8"/>
                </a:solidFill>
                <a:latin typeface="Arial"/>
              </a:defRPr>
            </a:pPr>
            <a:r>
              <a:t>Slide 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4602</Words>
  <Application>Microsoft Office PowerPoint</Application>
  <PresentationFormat>Widescreen</PresentationFormat>
  <Paragraphs>232</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Phat Duong</cp:lastModifiedBy>
  <cp:revision>4</cp:revision>
  <dcterms:created xsi:type="dcterms:W3CDTF">2013-01-27T09:14:16Z</dcterms:created>
  <dcterms:modified xsi:type="dcterms:W3CDTF">2026-10-03T12:33:36Z</dcterms:modified>
  <cp:category/>
</cp:coreProperties>
</file>